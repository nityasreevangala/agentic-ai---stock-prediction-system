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75" r:id="rId6"/>
    <p:sldId id="276" r:id="rId7"/>
    <p:sldId id="261" r:id="rId8"/>
    <p:sldId id="262" r:id="rId9"/>
    <p:sldId id="263" r:id="rId10"/>
    <p:sldId id="264" r:id="rId11"/>
    <p:sldId id="265" r:id="rId12"/>
    <p:sldId id="266" r:id="rId13"/>
    <p:sldId id="272" r:id="rId14"/>
    <p:sldId id="273" r:id="rId15"/>
    <p:sldId id="274" r:id="rId16"/>
    <p:sldId id="267" r:id="rId17"/>
    <p:sldId id="268" r:id="rId18"/>
    <p:sldId id="269" r:id="rId19"/>
    <p:sldId id="270" r:id="rId20"/>
    <p:sldId id="271"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3" d="100"/>
          <a:sy n="73" d="100"/>
        </p:scale>
        <p:origin x="36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1/15/2026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1/15/2026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EC67B-C6B0-24A7-611A-FC6772903E50}"/>
              </a:ext>
            </a:extLst>
          </p:cNvPr>
          <p:cNvSpPr>
            <a:spLocks noGrp="1"/>
          </p:cNvSpPr>
          <p:nvPr>
            <p:ph type="ctrTitle"/>
          </p:nvPr>
        </p:nvSpPr>
        <p:spPr/>
        <p:txBody>
          <a:bodyPr/>
          <a:lstStyle/>
          <a:p>
            <a:r>
              <a:rPr lang="en-IN" b="1" dirty="0">
                <a:latin typeface="Aparajita" panose="02020603050405020304" pitchFamily="18" charset="0"/>
                <a:cs typeface="Aparajita" panose="02020603050405020304" pitchFamily="18" charset="0"/>
              </a:rPr>
              <a:t>AGENTIC AI STOCK PREDICTION SYSTEM</a:t>
            </a:r>
          </a:p>
        </p:txBody>
      </p:sp>
      <p:sp>
        <p:nvSpPr>
          <p:cNvPr id="3" name="Subtitle 2">
            <a:extLst>
              <a:ext uri="{FF2B5EF4-FFF2-40B4-BE49-F238E27FC236}">
                <a16:creationId xmlns:a16="http://schemas.microsoft.com/office/drawing/2014/main" id="{0B400E2C-2445-F347-75AE-6B46F901E83E}"/>
              </a:ext>
            </a:extLst>
          </p:cNvPr>
          <p:cNvSpPr>
            <a:spLocks noGrp="1"/>
          </p:cNvSpPr>
          <p:nvPr>
            <p:ph type="subTitle" idx="1"/>
          </p:nvPr>
        </p:nvSpPr>
        <p:spPr>
          <a:xfrm>
            <a:off x="1959429" y="4385732"/>
            <a:ext cx="9200696" cy="1405467"/>
          </a:xfrm>
        </p:spPr>
        <p:txBody>
          <a:bodyPr>
            <a:normAutofit/>
          </a:bodyPr>
          <a:lstStyle/>
          <a:p>
            <a:r>
              <a:rPr lang="en-US" sz="2000" b="1" dirty="0">
                <a:latin typeface="Aparajita" panose="02020603050405020304" pitchFamily="18" charset="0"/>
                <a:cs typeface="Aparajita" panose="02020603050405020304" pitchFamily="18" charset="0"/>
              </a:rPr>
              <a:t>NSE &amp; BSE | Technical + Fundamental + ML Ensemble | 12-Month Forecast</a:t>
            </a:r>
          </a:p>
          <a:p>
            <a:r>
              <a:rPr lang="en-US" sz="2000" b="1" dirty="0">
                <a:latin typeface="Aparajita" panose="02020603050405020304" pitchFamily="18" charset="0"/>
                <a:cs typeface="Aparajita" panose="02020603050405020304" pitchFamily="18" charset="0"/>
              </a:rPr>
              <a:t>NITYASREE VANGALA</a:t>
            </a:r>
            <a:endParaRPr lang="en-IN" sz="2000" b="1" dirty="0">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55978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65477-6921-A213-B9C8-FFA971C15CB0}"/>
              </a:ext>
            </a:extLst>
          </p:cNvPr>
          <p:cNvSpPr>
            <a:spLocks noGrp="1"/>
          </p:cNvSpPr>
          <p:nvPr>
            <p:ph type="title"/>
          </p:nvPr>
        </p:nvSpPr>
        <p:spPr>
          <a:xfrm>
            <a:off x="685800" y="0"/>
            <a:ext cx="10131425" cy="1456267"/>
          </a:xfrm>
        </p:spPr>
        <p:txBody>
          <a:bodyPr>
            <a:normAutofit/>
          </a:bodyPr>
          <a:lstStyle/>
          <a:p>
            <a:r>
              <a:rPr lang="en-IN" sz="2500" b="1" u="sng" dirty="0">
                <a:latin typeface="Aparajita" panose="02020603050405020304" pitchFamily="18" charset="0"/>
                <a:cs typeface="Aparajita" panose="02020603050405020304" pitchFamily="18" charset="0"/>
              </a:rPr>
              <a:t>Problem statement </a:t>
            </a:r>
          </a:p>
        </p:txBody>
      </p:sp>
      <p:sp>
        <p:nvSpPr>
          <p:cNvPr id="3" name="Content Placeholder 2">
            <a:extLst>
              <a:ext uri="{FF2B5EF4-FFF2-40B4-BE49-F238E27FC236}">
                <a16:creationId xmlns:a16="http://schemas.microsoft.com/office/drawing/2014/main" id="{14349213-FDB9-376A-D2CA-8ED82187E70E}"/>
              </a:ext>
            </a:extLst>
          </p:cNvPr>
          <p:cNvSpPr>
            <a:spLocks noGrp="1"/>
          </p:cNvSpPr>
          <p:nvPr>
            <p:ph idx="1"/>
          </p:nvPr>
        </p:nvSpPr>
        <p:spPr>
          <a:xfrm>
            <a:off x="685800" y="975360"/>
            <a:ext cx="10131425" cy="5956663"/>
          </a:xfrm>
        </p:spPr>
        <p:txBody>
          <a:bodyPr>
            <a:normAutofit fontScale="92500" lnSpcReduction="20000"/>
          </a:bodyPr>
          <a:lstStyle/>
          <a:p>
            <a:pPr marL="0" indent="0">
              <a:buNone/>
            </a:pPr>
            <a:r>
              <a:rPr lang="en-US" sz="1700" dirty="0"/>
              <a:t>Design and build a </a:t>
            </a:r>
            <a:r>
              <a:rPr lang="en-US" sz="1700" b="1" dirty="0"/>
              <a:t>Multi-Model Agentic AI Stock Analysis System</a:t>
            </a:r>
            <a:r>
              <a:rPr lang="en-US" sz="1700" dirty="0"/>
              <a:t> that enables users to:</a:t>
            </a:r>
          </a:p>
          <a:p>
            <a:pPr>
              <a:buFont typeface="Wingdings" panose="05000000000000000000" pitchFamily="2" charset="2"/>
              <a:buChar char="§"/>
            </a:pPr>
            <a:r>
              <a:rPr lang="en-US" sz="1700" b="1" dirty="0"/>
              <a:t>Search Indian listed companies</a:t>
            </a:r>
            <a:r>
              <a:rPr lang="en-US" sz="1700" dirty="0"/>
              <a:t> (NSE &amp; BSE) via an intelligent autocomplete search (Google-like experience).</a:t>
            </a:r>
          </a:p>
          <a:p>
            <a:pPr>
              <a:buFont typeface="Wingdings" panose="05000000000000000000" pitchFamily="2" charset="2"/>
              <a:buChar char="§"/>
            </a:pPr>
            <a:r>
              <a:rPr lang="en-US" sz="1700" b="1" dirty="0"/>
              <a:t>Dynamically construct an autonomous AI agent</a:t>
            </a:r>
            <a:r>
              <a:rPr lang="en-US" sz="1700" dirty="0"/>
              <a:t> that:</a:t>
            </a:r>
          </a:p>
          <a:p>
            <a:pPr lvl="1"/>
            <a:r>
              <a:rPr lang="en-US" sz="1700" dirty="0"/>
              <a:t>Performs </a:t>
            </a:r>
            <a:r>
              <a:rPr lang="en-US" sz="1700" b="1" dirty="0"/>
              <a:t>fundamental analysis</a:t>
            </a:r>
            <a:endParaRPr lang="en-US" sz="1700" dirty="0"/>
          </a:p>
          <a:p>
            <a:pPr lvl="1"/>
            <a:r>
              <a:rPr lang="en-US" sz="1700" dirty="0"/>
              <a:t>Performs </a:t>
            </a:r>
            <a:r>
              <a:rPr lang="en-US" sz="1700" b="1" dirty="0"/>
              <a:t>technical analysis</a:t>
            </a:r>
            <a:endParaRPr lang="en-US" sz="1700" dirty="0"/>
          </a:p>
          <a:p>
            <a:pPr lvl="1"/>
            <a:r>
              <a:rPr lang="en-US" sz="1700" dirty="0"/>
              <a:t>Synthesizes insights using an </a:t>
            </a:r>
            <a:r>
              <a:rPr lang="en-US" sz="1700" b="1" dirty="0"/>
              <a:t>LLM reasoning layer</a:t>
            </a:r>
            <a:endParaRPr lang="en-US" sz="1700" dirty="0"/>
          </a:p>
          <a:p>
            <a:pPr>
              <a:buFont typeface="Wingdings" panose="05000000000000000000" pitchFamily="2" charset="2"/>
              <a:buChar char="§"/>
            </a:pPr>
            <a:r>
              <a:rPr lang="en-US" sz="1700" dirty="0"/>
              <a:t>Generate:</a:t>
            </a:r>
          </a:p>
          <a:p>
            <a:pPr lvl="1"/>
            <a:r>
              <a:rPr lang="en-US" sz="1700" b="1" dirty="0"/>
              <a:t>Layman-friendly Top 5 Fundamental Indicators</a:t>
            </a:r>
            <a:endParaRPr lang="en-US" sz="1700" dirty="0"/>
          </a:p>
          <a:p>
            <a:pPr lvl="1"/>
            <a:r>
              <a:rPr lang="en-US" sz="1700" b="1" dirty="0"/>
              <a:t>Layman-friendly Top 5 Technical Indicators</a:t>
            </a:r>
            <a:endParaRPr lang="en-US" sz="1700" dirty="0"/>
          </a:p>
          <a:p>
            <a:pPr lvl="1"/>
            <a:r>
              <a:rPr lang="en-US" sz="1700" b="1" dirty="0"/>
              <a:t>12-month monthly stock price forecast</a:t>
            </a:r>
            <a:endParaRPr lang="en-US" sz="1700" dirty="0"/>
          </a:p>
          <a:p>
            <a:pPr lvl="1"/>
            <a:r>
              <a:rPr lang="en-US" sz="1700" b="1" dirty="0"/>
              <a:t>Actionable recommendation</a:t>
            </a:r>
            <a:r>
              <a:rPr lang="en-US" sz="1700" dirty="0"/>
              <a:t>: Buy / Hold / Sell</a:t>
            </a:r>
          </a:p>
          <a:p>
            <a:pPr>
              <a:buFont typeface="Wingdings" panose="05000000000000000000" pitchFamily="2" charset="2"/>
              <a:buChar char="§"/>
            </a:pPr>
            <a:r>
              <a:rPr lang="en-US" sz="1700" dirty="0"/>
              <a:t>Visualize predictions with </a:t>
            </a:r>
            <a:r>
              <a:rPr lang="en-US" sz="1700" b="1" dirty="0"/>
              <a:t>stock-like charts</a:t>
            </a:r>
            <a:endParaRPr lang="en-US" sz="1700" dirty="0"/>
          </a:p>
          <a:p>
            <a:pPr>
              <a:buFont typeface="Wingdings" panose="05000000000000000000" pitchFamily="2" charset="2"/>
              <a:buChar char="§"/>
            </a:pPr>
            <a:r>
              <a:rPr lang="en-US" sz="1700" dirty="0"/>
              <a:t>Operate only on </a:t>
            </a:r>
            <a:r>
              <a:rPr lang="en-US" sz="1700" b="1" dirty="0"/>
              <a:t>real historical market data</a:t>
            </a:r>
            <a:endParaRPr lang="en-US" sz="1700" dirty="0"/>
          </a:p>
          <a:p>
            <a:pPr>
              <a:buFont typeface="Wingdings" panose="05000000000000000000" pitchFamily="2" charset="2"/>
              <a:buChar char="§"/>
            </a:pPr>
            <a:r>
              <a:rPr lang="en-US" sz="1700" dirty="0"/>
              <a:t>Focus initially on </a:t>
            </a:r>
            <a:r>
              <a:rPr lang="en-US" sz="1700" b="1" dirty="0"/>
              <a:t>Top 5 Indian companies</a:t>
            </a:r>
            <a:endParaRPr lang="en-US" sz="1700" dirty="0"/>
          </a:p>
          <a:p>
            <a:pPr lvl="1"/>
            <a:r>
              <a:rPr lang="en-US" sz="1700" dirty="0"/>
              <a:t>2 historically upward-trending</a:t>
            </a:r>
          </a:p>
          <a:p>
            <a:pPr lvl="1"/>
            <a:r>
              <a:rPr lang="en-US" sz="1700" dirty="0"/>
              <a:t>2 historically downward-trending</a:t>
            </a:r>
          </a:p>
          <a:p>
            <a:pPr lvl="1"/>
            <a:r>
              <a:rPr lang="en-US" sz="1700" dirty="0"/>
              <a:t>1–2 consolidation / hold-type stocks</a:t>
            </a:r>
          </a:p>
          <a:p>
            <a:endParaRPr lang="en-IN" dirty="0"/>
          </a:p>
        </p:txBody>
      </p:sp>
    </p:spTree>
    <p:extLst>
      <p:ext uri="{BB962C8B-B14F-4D97-AF65-F5344CB8AC3E}">
        <p14:creationId xmlns:p14="http://schemas.microsoft.com/office/powerpoint/2010/main" val="525869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9B734-35DB-6D80-E0AE-D0672CF4611C}"/>
              </a:ext>
            </a:extLst>
          </p:cNvPr>
          <p:cNvSpPr>
            <a:spLocks noGrp="1"/>
          </p:cNvSpPr>
          <p:nvPr>
            <p:ph type="title"/>
          </p:nvPr>
        </p:nvSpPr>
        <p:spPr/>
        <p:txBody>
          <a:bodyPr>
            <a:normAutofit/>
          </a:bodyPr>
          <a:lstStyle/>
          <a:p>
            <a:r>
              <a:rPr lang="en-US" sz="4500" b="1" u="sng" dirty="0">
                <a:latin typeface="Aparajita" panose="02020603050405020304" pitchFamily="18" charset="0"/>
                <a:cs typeface="Aparajita" panose="02020603050405020304" pitchFamily="18" charset="0"/>
              </a:rPr>
              <a:t>Constraints &amp; Assumptions</a:t>
            </a:r>
            <a:endParaRPr lang="en-IN" sz="4500" u="sng" dirty="0">
              <a:latin typeface="Aparajita" panose="02020603050405020304" pitchFamily="18" charset="0"/>
              <a:cs typeface="Aparajita" panose="02020603050405020304" pitchFamily="18" charset="0"/>
            </a:endParaRPr>
          </a:p>
        </p:txBody>
      </p:sp>
      <p:sp>
        <p:nvSpPr>
          <p:cNvPr id="3" name="Content Placeholder 2">
            <a:extLst>
              <a:ext uri="{FF2B5EF4-FFF2-40B4-BE49-F238E27FC236}">
                <a16:creationId xmlns:a16="http://schemas.microsoft.com/office/drawing/2014/main" id="{AE4B791E-920A-5C5C-7A0A-6DAB719ABD9C}"/>
              </a:ext>
            </a:extLst>
          </p:cNvPr>
          <p:cNvSpPr>
            <a:spLocks noGrp="1"/>
          </p:cNvSpPr>
          <p:nvPr>
            <p:ph idx="1"/>
          </p:nvPr>
        </p:nvSpPr>
        <p:spPr/>
        <p:txBody>
          <a:bodyPr/>
          <a:lstStyle/>
          <a:p>
            <a:r>
              <a:rPr lang="en-US" dirty="0"/>
              <a:t>Markets considered: </a:t>
            </a:r>
            <a:r>
              <a:rPr lang="en-US" b="1" dirty="0"/>
              <a:t>NSE &amp; BSE</a:t>
            </a:r>
            <a:endParaRPr lang="en-US" dirty="0"/>
          </a:p>
          <a:p>
            <a:r>
              <a:rPr lang="en-US" dirty="0"/>
              <a:t>Base historical cutoff: </a:t>
            </a:r>
            <a:r>
              <a:rPr lang="en-US" b="1" dirty="0"/>
              <a:t>Closing prices up to 31-12-2025</a:t>
            </a:r>
            <a:endParaRPr lang="en-US" dirty="0"/>
          </a:p>
          <a:p>
            <a:r>
              <a:rPr lang="en-US" dirty="0"/>
              <a:t>Predictions are </a:t>
            </a:r>
            <a:r>
              <a:rPr lang="en-US" b="1" dirty="0"/>
              <a:t>probabilistic, not guaranteed</a:t>
            </a:r>
            <a:endParaRPr lang="en-US" dirty="0"/>
          </a:p>
          <a:p>
            <a:r>
              <a:rPr lang="en-US" dirty="0"/>
              <a:t>LLM is trained </a:t>
            </a:r>
            <a:r>
              <a:rPr lang="en-US" b="1" dirty="0"/>
              <a:t>from scratch (domain-specific)</a:t>
            </a:r>
            <a:r>
              <a:rPr lang="en-US" dirty="0"/>
              <a:t>, not fine-tuned ChatGPT</a:t>
            </a:r>
          </a:p>
          <a:p>
            <a:r>
              <a:rPr lang="en-US" dirty="0"/>
              <a:t>System prioritizes </a:t>
            </a:r>
            <a:r>
              <a:rPr lang="en-US" b="1" dirty="0"/>
              <a:t>explainability over blind accuracy</a:t>
            </a:r>
            <a:endParaRPr lang="en-US" dirty="0"/>
          </a:p>
          <a:p>
            <a:r>
              <a:rPr lang="en-US" dirty="0"/>
              <a:t>Predictions reflect </a:t>
            </a:r>
            <a:r>
              <a:rPr lang="en-US" b="1" dirty="0"/>
              <a:t>real-world market uncertainty</a:t>
            </a:r>
            <a:endParaRPr lang="en-US" dirty="0"/>
          </a:p>
          <a:p>
            <a:endParaRPr lang="en-IN" dirty="0"/>
          </a:p>
        </p:txBody>
      </p:sp>
    </p:spTree>
    <p:extLst>
      <p:ext uri="{BB962C8B-B14F-4D97-AF65-F5344CB8AC3E}">
        <p14:creationId xmlns:p14="http://schemas.microsoft.com/office/powerpoint/2010/main" val="1833109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0C956-E332-3D4B-D38C-F7FC9D53DC4B}"/>
              </a:ext>
            </a:extLst>
          </p:cNvPr>
          <p:cNvSpPr>
            <a:spLocks noGrp="1"/>
          </p:cNvSpPr>
          <p:nvPr>
            <p:ph type="title"/>
          </p:nvPr>
        </p:nvSpPr>
        <p:spPr>
          <a:xfrm>
            <a:off x="859973" y="905692"/>
            <a:ext cx="10131425" cy="609600"/>
          </a:xfrm>
        </p:spPr>
        <p:txBody>
          <a:bodyPr>
            <a:normAutofit fontScale="90000"/>
          </a:bodyPr>
          <a:lstStyle/>
          <a:p>
            <a:r>
              <a:rPr lang="en-IN" b="1" u="sng" dirty="0">
                <a:latin typeface="Aparajita" panose="02020603050405020304" pitchFamily="18" charset="0"/>
                <a:cs typeface="Aparajita" panose="02020603050405020304" pitchFamily="18" charset="0"/>
              </a:rPr>
              <a:t>Technology Stack / PROJECT FLOW</a:t>
            </a:r>
          </a:p>
        </p:txBody>
      </p:sp>
      <p:graphicFrame>
        <p:nvGraphicFramePr>
          <p:cNvPr id="4" name="Table 3">
            <a:extLst>
              <a:ext uri="{FF2B5EF4-FFF2-40B4-BE49-F238E27FC236}">
                <a16:creationId xmlns:a16="http://schemas.microsoft.com/office/drawing/2014/main" id="{40554DE1-CBC8-F7DD-541F-C870928CF60B}"/>
              </a:ext>
            </a:extLst>
          </p:cNvPr>
          <p:cNvGraphicFramePr>
            <a:graphicFrameLocks noGrp="1"/>
          </p:cNvGraphicFramePr>
          <p:nvPr>
            <p:extLst>
              <p:ext uri="{D42A27DB-BD31-4B8C-83A1-F6EECF244321}">
                <p14:modId xmlns:p14="http://schemas.microsoft.com/office/powerpoint/2010/main" val="4273189819"/>
              </p:ext>
            </p:extLst>
          </p:nvPr>
        </p:nvGraphicFramePr>
        <p:xfrm>
          <a:off x="1113824" y="2128861"/>
          <a:ext cx="6079455" cy="3291840"/>
        </p:xfrm>
        <a:graphic>
          <a:graphicData uri="http://schemas.openxmlformats.org/drawingml/2006/table">
            <a:tbl>
              <a:tblPr>
                <a:tableStyleId>{284E427A-3D55-4303-BF80-6455036E1DE7}</a:tableStyleId>
              </a:tblPr>
              <a:tblGrid>
                <a:gridCol w="1045561">
                  <a:extLst>
                    <a:ext uri="{9D8B030D-6E8A-4147-A177-3AD203B41FA5}">
                      <a16:colId xmlns:a16="http://schemas.microsoft.com/office/drawing/2014/main" val="3974831668"/>
                    </a:ext>
                  </a:extLst>
                </a:gridCol>
                <a:gridCol w="5033894">
                  <a:extLst>
                    <a:ext uri="{9D8B030D-6E8A-4147-A177-3AD203B41FA5}">
                      <a16:colId xmlns:a16="http://schemas.microsoft.com/office/drawing/2014/main" val="154433848"/>
                    </a:ext>
                  </a:extLst>
                </a:gridCol>
              </a:tblGrid>
              <a:tr h="301456">
                <a:tc>
                  <a:txBody>
                    <a:bodyPr/>
                    <a:lstStyle/>
                    <a:p>
                      <a:pPr>
                        <a:buNone/>
                      </a:pPr>
                      <a:r>
                        <a:rPr lang="en-IN" sz="1800" b="1" i="1" u="sng" dirty="0"/>
                        <a:t>LAYER</a:t>
                      </a:r>
                    </a:p>
                  </a:txBody>
                  <a:tcPr anchor="ctr"/>
                </a:tc>
                <a:tc>
                  <a:txBody>
                    <a:bodyPr/>
                    <a:lstStyle/>
                    <a:p>
                      <a:pPr>
                        <a:buNone/>
                      </a:pPr>
                      <a:r>
                        <a:rPr lang="en-IN" sz="1800" b="1" i="1" u="sng" dirty="0"/>
                        <a:t>TECH</a:t>
                      </a:r>
                    </a:p>
                  </a:txBody>
                  <a:tcPr anchor="ctr"/>
                </a:tc>
                <a:extLst>
                  <a:ext uri="{0D108BD9-81ED-4DB2-BD59-A6C34878D82A}">
                    <a16:rowId xmlns:a16="http://schemas.microsoft.com/office/drawing/2014/main" val="92633221"/>
                  </a:ext>
                </a:extLst>
              </a:tr>
              <a:tr h="301456">
                <a:tc>
                  <a:txBody>
                    <a:bodyPr/>
                    <a:lstStyle/>
                    <a:p>
                      <a:pPr>
                        <a:buNone/>
                      </a:pPr>
                      <a:r>
                        <a:rPr lang="en-IN" sz="1800" b="1"/>
                        <a:t>Frontend</a:t>
                      </a:r>
                    </a:p>
                  </a:txBody>
                  <a:tcPr anchor="ctr"/>
                </a:tc>
                <a:tc>
                  <a:txBody>
                    <a:bodyPr/>
                    <a:lstStyle/>
                    <a:p>
                      <a:pPr>
                        <a:buNone/>
                      </a:pPr>
                      <a:r>
                        <a:rPr lang="en-US" sz="1800" b="1" dirty="0"/>
                        <a:t>Vite + React + Tailwind + Recharts</a:t>
                      </a:r>
                    </a:p>
                  </a:txBody>
                  <a:tcPr anchor="ctr"/>
                </a:tc>
                <a:extLst>
                  <a:ext uri="{0D108BD9-81ED-4DB2-BD59-A6C34878D82A}">
                    <a16:rowId xmlns:a16="http://schemas.microsoft.com/office/drawing/2014/main" val="3075808624"/>
                  </a:ext>
                </a:extLst>
              </a:tr>
              <a:tr h="301456">
                <a:tc>
                  <a:txBody>
                    <a:bodyPr/>
                    <a:lstStyle/>
                    <a:p>
                      <a:pPr>
                        <a:buNone/>
                      </a:pPr>
                      <a:r>
                        <a:rPr lang="en-IN" sz="1800" b="1" dirty="0"/>
                        <a:t>Backend</a:t>
                      </a:r>
                    </a:p>
                  </a:txBody>
                  <a:tcPr anchor="ctr"/>
                </a:tc>
                <a:tc>
                  <a:txBody>
                    <a:bodyPr/>
                    <a:lstStyle/>
                    <a:p>
                      <a:pPr>
                        <a:buNone/>
                      </a:pPr>
                      <a:r>
                        <a:rPr lang="en-IN" sz="1800" b="1" dirty="0"/>
                        <a:t>Fast API</a:t>
                      </a:r>
                    </a:p>
                  </a:txBody>
                  <a:tcPr anchor="ctr"/>
                </a:tc>
                <a:extLst>
                  <a:ext uri="{0D108BD9-81ED-4DB2-BD59-A6C34878D82A}">
                    <a16:rowId xmlns:a16="http://schemas.microsoft.com/office/drawing/2014/main" val="666507875"/>
                  </a:ext>
                </a:extLst>
              </a:tr>
              <a:tr h="301456">
                <a:tc>
                  <a:txBody>
                    <a:bodyPr/>
                    <a:lstStyle/>
                    <a:p>
                      <a:pPr>
                        <a:buNone/>
                      </a:pPr>
                      <a:r>
                        <a:rPr lang="en-IN" sz="1800" b="1" dirty="0"/>
                        <a:t>Data</a:t>
                      </a:r>
                    </a:p>
                  </a:txBody>
                  <a:tcPr anchor="ctr"/>
                </a:tc>
                <a:tc>
                  <a:txBody>
                    <a:bodyPr/>
                    <a:lstStyle/>
                    <a:p>
                      <a:pPr>
                        <a:buNone/>
                      </a:pPr>
                      <a:r>
                        <a:rPr lang="en-IN" sz="1800" b="1" dirty="0"/>
                        <a:t>NSE/BSE historical OHLCV</a:t>
                      </a:r>
                    </a:p>
                  </a:txBody>
                  <a:tcPr anchor="ctr"/>
                </a:tc>
                <a:extLst>
                  <a:ext uri="{0D108BD9-81ED-4DB2-BD59-A6C34878D82A}">
                    <a16:rowId xmlns:a16="http://schemas.microsoft.com/office/drawing/2014/main" val="1968330372"/>
                  </a:ext>
                </a:extLst>
              </a:tr>
              <a:tr h="301456">
                <a:tc>
                  <a:txBody>
                    <a:bodyPr/>
                    <a:lstStyle/>
                    <a:p>
                      <a:pPr>
                        <a:buNone/>
                      </a:pPr>
                      <a:r>
                        <a:rPr lang="en-IN" sz="1800" b="1" dirty="0"/>
                        <a:t>ML</a:t>
                      </a:r>
                    </a:p>
                  </a:txBody>
                  <a:tcPr anchor="ctr"/>
                </a:tc>
                <a:tc>
                  <a:txBody>
                    <a:bodyPr/>
                    <a:lstStyle/>
                    <a:p>
                      <a:pPr>
                        <a:buNone/>
                      </a:pPr>
                      <a:r>
                        <a:rPr lang="en-IN" sz="1800" b="1" dirty="0"/>
                        <a:t>LSTM, XGBoost, ARIMA, Prophet</a:t>
                      </a:r>
                    </a:p>
                  </a:txBody>
                  <a:tcPr anchor="ctr"/>
                </a:tc>
                <a:extLst>
                  <a:ext uri="{0D108BD9-81ED-4DB2-BD59-A6C34878D82A}">
                    <a16:rowId xmlns:a16="http://schemas.microsoft.com/office/drawing/2014/main" val="2798256281"/>
                  </a:ext>
                </a:extLst>
              </a:tr>
              <a:tr h="301456">
                <a:tc>
                  <a:txBody>
                    <a:bodyPr/>
                    <a:lstStyle/>
                    <a:p>
                      <a:pPr>
                        <a:buNone/>
                      </a:pPr>
                      <a:r>
                        <a:rPr lang="en-IN" sz="1800" b="1" dirty="0"/>
                        <a:t>Agents</a:t>
                      </a:r>
                    </a:p>
                  </a:txBody>
                  <a:tcPr anchor="ctr"/>
                </a:tc>
                <a:tc>
                  <a:txBody>
                    <a:bodyPr/>
                    <a:lstStyle/>
                    <a:p>
                      <a:pPr>
                        <a:buNone/>
                      </a:pPr>
                      <a:r>
                        <a:rPr lang="en-IN" sz="1800" b="1" dirty="0"/>
                        <a:t>Multi-Agent Orchestration</a:t>
                      </a:r>
                    </a:p>
                  </a:txBody>
                  <a:tcPr anchor="ctr"/>
                </a:tc>
                <a:extLst>
                  <a:ext uri="{0D108BD9-81ED-4DB2-BD59-A6C34878D82A}">
                    <a16:rowId xmlns:a16="http://schemas.microsoft.com/office/drawing/2014/main" val="2024110502"/>
                  </a:ext>
                </a:extLst>
              </a:tr>
              <a:tr h="301456">
                <a:tc>
                  <a:txBody>
                    <a:bodyPr/>
                    <a:lstStyle/>
                    <a:p>
                      <a:pPr>
                        <a:buNone/>
                      </a:pPr>
                      <a:r>
                        <a:rPr lang="en-IN" sz="1800" b="1" dirty="0"/>
                        <a:t>LLM</a:t>
                      </a:r>
                    </a:p>
                  </a:txBody>
                  <a:tcPr anchor="ctr"/>
                </a:tc>
                <a:tc>
                  <a:txBody>
                    <a:bodyPr/>
                    <a:lstStyle/>
                    <a:p>
                      <a:pPr>
                        <a:buNone/>
                      </a:pPr>
                      <a:r>
                        <a:rPr lang="en-US" sz="1800" b="1" dirty="0"/>
                        <a:t>Custom Financial LLM </a:t>
                      </a:r>
                    </a:p>
                  </a:txBody>
                  <a:tcPr anchor="ctr"/>
                </a:tc>
                <a:extLst>
                  <a:ext uri="{0D108BD9-81ED-4DB2-BD59-A6C34878D82A}">
                    <a16:rowId xmlns:a16="http://schemas.microsoft.com/office/drawing/2014/main" val="2157075820"/>
                  </a:ext>
                </a:extLst>
              </a:tr>
              <a:tr h="301456">
                <a:tc>
                  <a:txBody>
                    <a:bodyPr/>
                    <a:lstStyle/>
                    <a:p>
                      <a:pPr>
                        <a:buNone/>
                      </a:pPr>
                      <a:r>
                        <a:rPr lang="en-IN" sz="1800" b="1" dirty="0"/>
                        <a:t>Storage</a:t>
                      </a:r>
                    </a:p>
                  </a:txBody>
                  <a:tcPr anchor="ctr"/>
                </a:tc>
                <a:tc>
                  <a:txBody>
                    <a:bodyPr/>
                    <a:lstStyle/>
                    <a:p>
                      <a:pPr>
                        <a:buNone/>
                      </a:pPr>
                      <a:r>
                        <a:rPr lang="en-IN" sz="1800" b="1" dirty="0"/>
                        <a:t>.csv File</a:t>
                      </a:r>
                    </a:p>
                  </a:txBody>
                  <a:tcPr anchor="ctr"/>
                </a:tc>
                <a:extLst>
                  <a:ext uri="{0D108BD9-81ED-4DB2-BD59-A6C34878D82A}">
                    <a16:rowId xmlns:a16="http://schemas.microsoft.com/office/drawing/2014/main" val="4279221817"/>
                  </a:ext>
                </a:extLst>
              </a:tr>
              <a:tr h="301456">
                <a:tc>
                  <a:txBody>
                    <a:bodyPr/>
                    <a:lstStyle/>
                    <a:p>
                      <a:pPr>
                        <a:buNone/>
                      </a:pPr>
                      <a:r>
                        <a:rPr lang="en-IN" sz="1800" b="1" dirty="0"/>
                        <a:t>Charts</a:t>
                      </a:r>
                    </a:p>
                  </a:txBody>
                  <a:tcPr anchor="ctr"/>
                </a:tc>
                <a:tc>
                  <a:txBody>
                    <a:bodyPr/>
                    <a:lstStyle/>
                    <a:p>
                      <a:pPr>
                        <a:buNone/>
                      </a:pPr>
                      <a:r>
                        <a:rPr lang="en-IN" sz="1800" b="1" dirty="0"/>
                        <a:t>Candlestick + Forecast Bands</a:t>
                      </a:r>
                    </a:p>
                  </a:txBody>
                  <a:tcPr anchor="ctr"/>
                </a:tc>
                <a:extLst>
                  <a:ext uri="{0D108BD9-81ED-4DB2-BD59-A6C34878D82A}">
                    <a16:rowId xmlns:a16="http://schemas.microsoft.com/office/drawing/2014/main" val="2088975871"/>
                  </a:ext>
                </a:extLst>
              </a:tr>
            </a:tbl>
          </a:graphicData>
        </a:graphic>
      </p:graphicFrame>
      <p:pic>
        <p:nvPicPr>
          <p:cNvPr id="8" name="Picture 7">
            <a:extLst>
              <a:ext uri="{FF2B5EF4-FFF2-40B4-BE49-F238E27FC236}">
                <a16:creationId xmlns:a16="http://schemas.microsoft.com/office/drawing/2014/main" id="{74681264-897B-4FD6-FF39-C7EAFE503A9E}"/>
              </a:ext>
            </a:extLst>
          </p:cNvPr>
          <p:cNvPicPr>
            <a:picLocks noChangeAspect="1"/>
          </p:cNvPicPr>
          <p:nvPr/>
        </p:nvPicPr>
        <p:blipFill>
          <a:blip r:embed="rId2"/>
          <a:stretch>
            <a:fillRect/>
          </a:stretch>
        </p:blipFill>
        <p:spPr>
          <a:xfrm>
            <a:off x="8727669" y="186733"/>
            <a:ext cx="2604358" cy="648453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TextBox 9">
            <a:extLst>
              <a:ext uri="{FF2B5EF4-FFF2-40B4-BE49-F238E27FC236}">
                <a16:creationId xmlns:a16="http://schemas.microsoft.com/office/drawing/2014/main" id="{18CB0896-4C8B-67C6-EF1E-A0722121A7CD}"/>
              </a:ext>
            </a:extLst>
          </p:cNvPr>
          <p:cNvSpPr txBox="1"/>
          <p:nvPr/>
        </p:nvSpPr>
        <p:spPr>
          <a:xfrm>
            <a:off x="1010194" y="5711104"/>
            <a:ext cx="6096000" cy="707886"/>
          </a:xfrm>
          <a:prstGeom prst="rect">
            <a:avLst/>
          </a:prstGeom>
          <a:noFill/>
        </p:spPr>
        <p:txBody>
          <a:bodyPr wrap="square">
            <a:spAutoFit/>
          </a:bodyPr>
          <a:lstStyle/>
          <a:p>
            <a:r>
              <a:rPr lang="en-US" sz="2000" b="1" dirty="0"/>
              <a:t>Each agent has a single responsibility. This modularity allows validation, replacement, and auditing.</a:t>
            </a:r>
            <a:endParaRPr lang="en-IN" sz="2000" b="1" dirty="0"/>
          </a:p>
        </p:txBody>
      </p:sp>
    </p:spTree>
    <p:extLst>
      <p:ext uri="{BB962C8B-B14F-4D97-AF65-F5344CB8AC3E}">
        <p14:creationId xmlns:p14="http://schemas.microsoft.com/office/powerpoint/2010/main" val="169900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6A073-EF24-B749-50C4-D271FF8DCEF6}"/>
              </a:ext>
            </a:extLst>
          </p:cNvPr>
          <p:cNvSpPr>
            <a:spLocks noGrp="1"/>
          </p:cNvSpPr>
          <p:nvPr>
            <p:ph type="title"/>
          </p:nvPr>
        </p:nvSpPr>
        <p:spPr>
          <a:xfrm>
            <a:off x="685801" y="348344"/>
            <a:ext cx="10131425" cy="217714"/>
          </a:xfrm>
        </p:spPr>
        <p:txBody>
          <a:bodyPr>
            <a:normAutofit fontScale="90000"/>
          </a:bodyPr>
          <a:lstStyle/>
          <a:p>
            <a:r>
              <a:rPr lang="en-IN" b="1" u="sng" dirty="0"/>
              <a:t>FEATURE ENGINEERING STEPS</a:t>
            </a:r>
          </a:p>
        </p:txBody>
      </p:sp>
      <p:sp>
        <p:nvSpPr>
          <p:cNvPr id="3" name="Content Placeholder 2">
            <a:extLst>
              <a:ext uri="{FF2B5EF4-FFF2-40B4-BE49-F238E27FC236}">
                <a16:creationId xmlns:a16="http://schemas.microsoft.com/office/drawing/2014/main" id="{5A4EF1E7-67B0-BFAB-FD68-4E52931AA4F0}"/>
              </a:ext>
            </a:extLst>
          </p:cNvPr>
          <p:cNvSpPr>
            <a:spLocks noGrp="1"/>
          </p:cNvSpPr>
          <p:nvPr>
            <p:ph idx="1"/>
          </p:nvPr>
        </p:nvSpPr>
        <p:spPr>
          <a:xfrm>
            <a:off x="685801" y="1145178"/>
            <a:ext cx="11016342" cy="5712822"/>
          </a:xfrm>
        </p:spPr>
        <p:txBody>
          <a:bodyPr>
            <a:normAutofit fontScale="92500" lnSpcReduction="20000"/>
          </a:bodyPr>
          <a:lstStyle/>
          <a:p>
            <a:pPr marL="0" indent="0">
              <a:buNone/>
            </a:pPr>
            <a:r>
              <a:rPr lang="en-US" b="1" u="sng" dirty="0"/>
              <a:t>1.  Raw Market Data Ingestion</a:t>
            </a:r>
          </a:p>
          <a:p>
            <a:r>
              <a:rPr lang="en-US" dirty="0"/>
              <a:t>The system ingests </a:t>
            </a:r>
            <a:r>
              <a:rPr lang="en-US" b="1" dirty="0"/>
              <a:t>historical OHLCV data</a:t>
            </a:r>
            <a:r>
              <a:rPr lang="en-US" dirty="0"/>
              <a:t> (Open, High, Low, Close, Volume) for each stock.</a:t>
            </a:r>
          </a:p>
          <a:p>
            <a:r>
              <a:rPr lang="en-US" dirty="0"/>
              <a:t>Data is strictly </a:t>
            </a:r>
            <a:r>
              <a:rPr lang="en-US" b="1" dirty="0"/>
              <a:t>time-ordered</a:t>
            </a:r>
            <a:r>
              <a:rPr lang="en-US" dirty="0"/>
              <a:t> to preserve causality.</a:t>
            </a:r>
          </a:p>
          <a:p>
            <a:r>
              <a:rPr lang="en-US" dirty="0"/>
              <a:t>No future timestamps are ever accessed during training or inference.</a:t>
            </a:r>
          </a:p>
          <a:p>
            <a:pPr marL="0" indent="0">
              <a:buNone/>
            </a:pPr>
            <a:endParaRPr lang="en-US" dirty="0"/>
          </a:p>
          <a:p>
            <a:pPr marL="0" indent="0">
              <a:buNone/>
            </a:pPr>
            <a:r>
              <a:rPr lang="en-US" u="sng" dirty="0"/>
              <a:t>2. </a:t>
            </a:r>
            <a:r>
              <a:rPr lang="en-US" b="1" u="sng" dirty="0"/>
              <a:t>Data Cleaning &amp; Alignment</a:t>
            </a:r>
          </a:p>
          <a:p>
            <a:r>
              <a:rPr lang="en-US" dirty="0"/>
              <a:t>Missing trading days are handled using </a:t>
            </a:r>
            <a:r>
              <a:rPr lang="en-US" b="1" dirty="0"/>
              <a:t>market-aware forward filling</a:t>
            </a:r>
            <a:r>
              <a:rPr lang="en-US" dirty="0"/>
              <a:t>, not naive interpolation.</a:t>
            </a:r>
          </a:p>
          <a:p>
            <a:r>
              <a:rPr lang="en-US" dirty="0"/>
              <a:t>Corporate action noise (sudden spikes due to splits/dividends) is smoothed using rolling statistics.</a:t>
            </a:r>
          </a:p>
          <a:p>
            <a:r>
              <a:rPr lang="en-US" dirty="0"/>
              <a:t>All models use a </a:t>
            </a:r>
            <a:r>
              <a:rPr lang="en-US" b="1" dirty="0"/>
              <a:t>shared aligned timeline</a:t>
            </a:r>
            <a:r>
              <a:rPr lang="en-US" dirty="0"/>
              <a:t>, so predictions are comparable.</a:t>
            </a:r>
          </a:p>
          <a:p>
            <a:pPr marL="0" indent="0">
              <a:buNone/>
            </a:pPr>
            <a:endParaRPr lang="en-US" dirty="0"/>
          </a:p>
          <a:p>
            <a:pPr marL="0" indent="0">
              <a:buNone/>
            </a:pPr>
            <a:r>
              <a:rPr lang="en-US" u="sng" dirty="0"/>
              <a:t>3. </a:t>
            </a:r>
            <a:r>
              <a:rPr lang="en-US" b="1" u="sng" dirty="0"/>
              <a:t>Statistical Feature Engineering</a:t>
            </a:r>
          </a:p>
          <a:p>
            <a:r>
              <a:rPr lang="en-US" dirty="0"/>
              <a:t>These features help models understand </a:t>
            </a:r>
            <a:r>
              <a:rPr lang="en-US" b="1" dirty="0"/>
              <a:t>distributional behavior</a:t>
            </a:r>
            <a:r>
              <a:rPr lang="en-US" dirty="0"/>
              <a:t>.</a:t>
            </a:r>
          </a:p>
          <a:p>
            <a:r>
              <a:rPr lang="en-US" dirty="0"/>
              <a:t>Rolling mean, variance, skewness</a:t>
            </a:r>
          </a:p>
          <a:p>
            <a:r>
              <a:rPr lang="en-US" dirty="0"/>
              <a:t>Log returns instead of raw prices</a:t>
            </a:r>
          </a:p>
          <a:p>
            <a:r>
              <a:rPr lang="en-US" dirty="0"/>
              <a:t>Z-score normalization within rolling windows</a:t>
            </a:r>
          </a:p>
          <a:p>
            <a:r>
              <a:rPr lang="en-US" dirty="0"/>
              <a:t>Volatility clustering detection</a:t>
            </a:r>
          </a:p>
          <a:p>
            <a:pPr marL="0" indent="0">
              <a:buNone/>
            </a:pPr>
            <a:endParaRPr lang="en-US" dirty="0"/>
          </a:p>
          <a:p>
            <a:endParaRPr lang="en-IN" dirty="0"/>
          </a:p>
        </p:txBody>
      </p:sp>
    </p:spTree>
    <p:extLst>
      <p:ext uri="{BB962C8B-B14F-4D97-AF65-F5344CB8AC3E}">
        <p14:creationId xmlns:p14="http://schemas.microsoft.com/office/powerpoint/2010/main" val="2786603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FDD22-93DC-7E88-D968-4740C2CB8A56}"/>
              </a:ext>
            </a:extLst>
          </p:cNvPr>
          <p:cNvSpPr>
            <a:spLocks noGrp="1"/>
          </p:cNvSpPr>
          <p:nvPr>
            <p:ph type="title"/>
          </p:nvPr>
        </p:nvSpPr>
        <p:spPr>
          <a:xfrm>
            <a:off x="685801" y="609601"/>
            <a:ext cx="10131425" cy="243840"/>
          </a:xfrm>
        </p:spPr>
        <p:txBody>
          <a:bodyPr>
            <a:normAutofit fontScale="90000"/>
          </a:bodyPr>
          <a:lstStyle/>
          <a:p>
            <a:r>
              <a:rPr lang="en-IN" b="1" u="sng" dirty="0"/>
              <a:t>FEATURE ENGINEERING STEPS</a:t>
            </a:r>
            <a:endParaRPr lang="en-IN" dirty="0"/>
          </a:p>
        </p:txBody>
      </p:sp>
      <p:sp>
        <p:nvSpPr>
          <p:cNvPr id="4" name="Rectangle 1">
            <a:extLst>
              <a:ext uri="{FF2B5EF4-FFF2-40B4-BE49-F238E27FC236}">
                <a16:creationId xmlns:a16="http://schemas.microsoft.com/office/drawing/2014/main" id="{26F3EDFE-5E50-3070-002D-A74FB50C12D5}"/>
              </a:ext>
            </a:extLst>
          </p:cNvPr>
          <p:cNvSpPr>
            <a:spLocks noGrp="1" noChangeArrowheads="1"/>
          </p:cNvSpPr>
          <p:nvPr>
            <p:ph idx="1"/>
          </p:nvPr>
        </p:nvSpPr>
        <p:spPr bwMode="auto">
          <a:xfrm>
            <a:off x="620051" y="1291249"/>
            <a:ext cx="10951898"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4. Technical indicators (SMA, EMA, RSI, Bollinger Bands, volatility, volume trends) are extracted to encode </a:t>
            </a:r>
            <a:r>
              <a:rPr kumimoji="0" lang="en-US" altLang="en-US" sz="1800" b="1" i="0" u="none" strike="noStrike" cap="none" normalizeH="0" baseline="0" dirty="0">
                <a:ln>
                  <a:noFill/>
                </a:ln>
                <a:solidFill>
                  <a:schemeClr val="tx1"/>
                </a:solidFill>
                <a:effectLst/>
                <a:latin typeface="Arial" panose="020B0604020202020204" pitchFamily="34" charset="0"/>
              </a:rPr>
              <a:t>trend strength, momentum, and market sentiment</a:t>
            </a:r>
            <a:r>
              <a:rPr kumimoji="0" lang="en-US" altLang="en-US" sz="1800" b="0" i="0" u="none" strike="noStrike" cap="none" normalizeH="0" baseline="0" dirty="0">
                <a:ln>
                  <a:noFill/>
                </a:ln>
                <a:solidFill>
                  <a:schemeClr val="tx1"/>
                </a:solidFill>
                <a:effectLst/>
                <a:latin typeface="Arial" panose="020B0604020202020204" pitchFamily="34" charset="0"/>
              </a:rPr>
              <a:t> into numerical features.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5. Lag-based and rolling-window features (t-1…t-n returns, indicator histories) explicitly inject </a:t>
            </a:r>
            <a:r>
              <a:rPr kumimoji="0" lang="en-US" altLang="en-US" sz="1800" b="1" i="0" u="none" strike="noStrike" cap="none" normalizeH="0" baseline="0" dirty="0">
                <a:ln>
                  <a:noFill/>
                </a:ln>
                <a:solidFill>
                  <a:schemeClr val="tx1"/>
                </a:solidFill>
                <a:effectLst/>
                <a:latin typeface="Arial" panose="020B0604020202020204" pitchFamily="34" charset="0"/>
              </a:rPr>
              <a:t>time awareness</a:t>
            </a:r>
            <a:r>
              <a:rPr kumimoji="0" lang="en-US" altLang="en-US" sz="1800" b="0" i="0" u="none" strike="noStrike" cap="none" normalizeH="0" baseline="0" dirty="0">
                <a:ln>
                  <a:noFill/>
                </a:ln>
                <a:solidFill>
                  <a:schemeClr val="tx1"/>
                </a:solidFill>
                <a:effectLst/>
                <a:latin typeface="Arial" panose="020B0604020202020204" pitchFamily="34" charset="0"/>
              </a:rPr>
              <a:t> into tree-based models like XG Boost.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6. Sequential data windows are constructed for LSTM models, allowing learning of </a:t>
            </a:r>
            <a:r>
              <a:rPr kumimoji="0" lang="en-US" altLang="en-US" sz="1800" b="1" i="0" u="none" strike="noStrike" cap="none" normalizeH="0" baseline="0" dirty="0">
                <a:ln>
                  <a:noFill/>
                </a:ln>
                <a:solidFill>
                  <a:schemeClr val="tx1"/>
                </a:solidFill>
                <a:effectLst/>
                <a:latin typeface="Arial" panose="020B0604020202020204" pitchFamily="34" charset="0"/>
              </a:rPr>
              <a:t>long-term temporal dependencies, regime shifts, and trend persistence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dirty="0">
                <a:latin typeface="Arial" panose="020B0604020202020204" pitchFamily="34" charset="0"/>
              </a:rPr>
              <a:t>7</a:t>
            </a:r>
            <a:r>
              <a:rPr kumimoji="0" lang="en-US" altLang="en-US" sz="1800" b="0" i="0" u="none" strike="noStrike" cap="none" normalizeH="0" baseline="0" dirty="0">
                <a:ln>
                  <a:noFill/>
                </a:ln>
                <a:solidFill>
                  <a:schemeClr val="tx1"/>
                </a:solidFill>
                <a:effectLst/>
                <a:latin typeface="Arial" panose="020B0604020202020204" pitchFamily="34" charset="0"/>
              </a:rPr>
              <a:t>. All features are normalized using </a:t>
            </a:r>
            <a:r>
              <a:rPr kumimoji="0" lang="en-US" altLang="en-US" sz="1800" b="1" i="0" u="none" strike="noStrike" cap="none" normalizeH="0" baseline="0" dirty="0">
                <a:ln>
                  <a:noFill/>
                </a:ln>
                <a:solidFill>
                  <a:schemeClr val="tx1"/>
                </a:solidFill>
                <a:effectLst/>
                <a:latin typeface="Arial" panose="020B0604020202020204" pitchFamily="34" charset="0"/>
              </a:rPr>
              <a:t>training-period statistics only</a:t>
            </a:r>
            <a:r>
              <a:rPr kumimoji="0" lang="en-US" altLang="en-US" sz="1800" b="0" i="0" u="none" strike="noStrike" cap="none" normalizeH="0" baseline="0" dirty="0">
                <a:ln>
                  <a:noFill/>
                </a:ln>
                <a:solidFill>
                  <a:schemeClr val="tx1"/>
                </a:solidFill>
                <a:effectLst/>
                <a:latin typeface="Arial" panose="020B0604020202020204" pitchFamily="34" charset="0"/>
              </a:rPr>
              <a:t>, ensuring numerical stability and eliminating future data leakage.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8. Features are </a:t>
            </a:r>
            <a:r>
              <a:rPr kumimoji="0" lang="en-US" altLang="en-US" sz="1800" b="1" i="0" u="none" strike="noStrike" cap="none" normalizeH="0" baseline="0" dirty="0">
                <a:ln>
                  <a:noFill/>
                </a:ln>
                <a:solidFill>
                  <a:schemeClr val="tx1"/>
                </a:solidFill>
                <a:effectLst/>
                <a:latin typeface="Arial" panose="020B0604020202020204" pitchFamily="34" charset="0"/>
              </a:rPr>
              <a:t>routed model-wise</a:t>
            </a:r>
            <a:r>
              <a:rPr kumimoji="0" lang="en-US" altLang="en-US" sz="1800" b="0" i="0" u="none" strike="noStrike" cap="none" normalizeH="0" baseline="0" dirty="0">
                <a:ln>
                  <a:noFill/>
                </a:ln>
                <a:solidFill>
                  <a:schemeClr val="tx1"/>
                </a:solidFill>
                <a:effectLst/>
                <a:latin typeface="Arial" panose="020B0604020202020204" pitchFamily="34" charset="0"/>
              </a:rPr>
              <a:t>: ARIMA receives stationary price series, XG Boost consumes engineered tabular features, and LSTM operates on multivariate time sequences.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9. Correlation checks, rolling back tests, and leakage audits are applied to validate feature usefulness and </a:t>
            </a:r>
            <a:r>
              <a:rPr kumimoji="0" lang="en-US" altLang="en-US" sz="1800" b="1" i="0" u="none" strike="noStrike" cap="none" normalizeH="0" baseline="0" dirty="0">
                <a:ln>
                  <a:noFill/>
                </a:ln>
                <a:solidFill>
                  <a:schemeClr val="tx1"/>
                </a:solidFill>
                <a:effectLst/>
                <a:latin typeface="Arial" panose="020B0604020202020204" pitchFamily="34" charset="0"/>
              </a:rPr>
              <a:t>prevent spurious or non-causal learning</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553690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5B8A4-AF4B-822D-CACF-02EAF32AC910}"/>
              </a:ext>
            </a:extLst>
          </p:cNvPr>
          <p:cNvSpPr>
            <a:spLocks noGrp="1"/>
          </p:cNvSpPr>
          <p:nvPr>
            <p:ph type="title"/>
          </p:nvPr>
        </p:nvSpPr>
        <p:spPr>
          <a:xfrm>
            <a:off x="720635" y="287383"/>
            <a:ext cx="10131425" cy="600741"/>
          </a:xfrm>
        </p:spPr>
        <p:txBody>
          <a:bodyPr>
            <a:normAutofit fontScale="90000"/>
          </a:bodyPr>
          <a:lstStyle/>
          <a:p>
            <a:r>
              <a:rPr lang="en-IN" b="1" u="sng" dirty="0"/>
              <a:t>Fundamental Agent</a:t>
            </a:r>
          </a:p>
        </p:txBody>
      </p:sp>
      <p:graphicFrame>
        <p:nvGraphicFramePr>
          <p:cNvPr id="10" name="Table 9">
            <a:extLst>
              <a:ext uri="{FF2B5EF4-FFF2-40B4-BE49-F238E27FC236}">
                <a16:creationId xmlns:a16="http://schemas.microsoft.com/office/drawing/2014/main" id="{29A66FC4-89A7-B3EE-99D9-CB71477987A9}"/>
              </a:ext>
            </a:extLst>
          </p:cNvPr>
          <p:cNvGraphicFramePr>
            <a:graphicFrameLocks noGrp="1"/>
          </p:cNvGraphicFramePr>
          <p:nvPr>
            <p:extLst>
              <p:ext uri="{D42A27DB-BD31-4B8C-83A1-F6EECF244321}">
                <p14:modId xmlns:p14="http://schemas.microsoft.com/office/powerpoint/2010/main" val="2236903283"/>
              </p:ext>
            </p:extLst>
          </p:nvPr>
        </p:nvGraphicFramePr>
        <p:xfrm>
          <a:off x="239485" y="1043613"/>
          <a:ext cx="11713029" cy="4269879"/>
        </p:xfrm>
        <a:graphic>
          <a:graphicData uri="http://schemas.openxmlformats.org/drawingml/2006/table">
            <a:tbl>
              <a:tblPr>
                <a:tableStyleId>{3C2FFA5D-87B4-456A-9821-1D502468CF0F}</a:tableStyleId>
              </a:tblPr>
              <a:tblGrid>
                <a:gridCol w="3904343">
                  <a:extLst>
                    <a:ext uri="{9D8B030D-6E8A-4147-A177-3AD203B41FA5}">
                      <a16:colId xmlns:a16="http://schemas.microsoft.com/office/drawing/2014/main" val="6567069"/>
                    </a:ext>
                  </a:extLst>
                </a:gridCol>
                <a:gridCol w="3904343">
                  <a:extLst>
                    <a:ext uri="{9D8B030D-6E8A-4147-A177-3AD203B41FA5}">
                      <a16:colId xmlns:a16="http://schemas.microsoft.com/office/drawing/2014/main" val="1936816238"/>
                    </a:ext>
                  </a:extLst>
                </a:gridCol>
                <a:gridCol w="3904343">
                  <a:extLst>
                    <a:ext uri="{9D8B030D-6E8A-4147-A177-3AD203B41FA5}">
                      <a16:colId xmlns:a16="http://schemas.microsoft.com/office/drawing/2014/main" val="3766663355"/>
                    </a:ext>
                  </a:extLst>
                </a:gridCol>
              </a:tblGrid>
              <a:tr h="268178">
                <a:tc>
                  <a:txBody>
                    <a:bodyPr/>
                    <a:lstStyle/>
                    <a:p>
                      <a:pPr>
                        <a:buNone/>
                      </a:pPr>
                      <a:r>
                        <a:rPr lang="en-IN" sz="1200" b="1" dirty="0"/>
                        <a:t>Metric</a:t>
                      </a:r>
                    </a:p>
                  </a:txBody>
                  <a:tcPr marL="48662" marR="48662" marT="24331" marB="24331" anchor="ctr"/>
                </a:tc>
                <a:tc>
                  <a:txBody>
                    <a:bodyPr/>
                    <a:lstStyle/>
                    <a:p>
                      <a:pPr>
                        <a:buNone/>
                      </a:pPr>
                      <a:r>
                        <a:rPr lang="en-IN" sz="1200" b="1"/>
                        <a:t>Purpose</a:t>
                      </a:r>
                    </a:p>
                  </a:txBody>
                  <a:tcPr marL="48662" marR="48662" marT="24331" marB="24331" anchor="ctr"/>
                </a:tc>
                <a:tc>
                  <a:txBody>
                    <a:bodyPr/>
                    <a:lstStyle/>
                    <a:p>
                      <a:pPr>
                        <a:buNone/>
                      </a:pPr>
                      <a:r>
                        <a:rPr lang="en-IN" sz="1200" b="1"/>
                        <a:t>Detailed Explanation</a:t>
                      </a:r>
                    </a:p>
                  </a:txBody>
                  <a:tcPr marL="48662" marR="48662" marT="24331" marB="24331" anchor="ctr"/>
                </a:tc>
                <a:extLst>
                  <a:ext uri="{0D108BD9-81ED-4DB2-BD59-A6C34878D82A}">
                    <a16:rowId xmlns:a16="http://schemas.microsoft.com/office/drawing/2014/main" val="2143383074"/>
                  </a:ext>
                </a:extLst>
              </a:tr>
              <a:tr h="901793">
                <a:tc>
                  <a:txBody>
                    <a:bodyPr/>
                    <a:lstStyle/>
                    <a:p>
                      <a:pPr>
                        <a:buNone/>
                      </a:pPr>
                      <a:r>
                        <a:rPr lang="en-IN" sz="1200" b="1" dirty="0"/>
                        <a:t>PE</a:t>
                      </a:r>
                    </a:p>
                  </a:txBody>
                  <a:tcPr marL="48662" marR="48662" marT="24331" marB="24331" anchor="ctr"/>
                </a:tc>
                <a:tc>
                  <a:txBody>
                    <a:bodyPr/>
                    <a:lstStyle/>
                    <a:p>
                      <a:pPr>
                        <a:buNone/>
                      </a:pPr>
                      <a:r>
                        <a:rPr lang="en-IN" sz="1200" b="1" dirty="0"/>
                        <a:t>Valuation</a:t>
                      </a:r>
                    </a:p>
                  </a:txBody>
                  <a:tcPr marL="48662" marR="48662" marT="24331" marB="24331" anchor="ctr"/>
                </a:tc>
                <a:tc>
                  <a:txBody>
                    <a:bodyPr/>
                    <a:lstStyle/>
                    <a:p>
                      <a:pPr>
                        <a:buNone/>
                      </a:pPr>
                      <a:r>
                        <a:rPr lang="en-US" sz="1200" b="1"/>
                        <a:t>Measures how much investors pay for ₹1 of earnings. High PE → growth expectations or overvaluation. Low PE → undervaluation or higher risk.</a:t>
                      </a:r>
                    </a:p>
                  </a:txBody>
                  <a:tcPr marL="48662" marR="48662" marT="24331" marB="24331" anchor="ctr"/>
                </a:tc>
                <a:extLst>
                  <a:ext uri="{0D108BD9-81ED-4DB2-BD59-A6C34878D82A}">
                    <a16:rowId xmlns:a16="http://schemas.microsoft.com/office/drawing/2014/main" val="3901981902"/>
                  </a:ext>
                </a:extLst>
              </a:tr>
              <a:tr h="732705">
                <a:tc>
                  <a:txBody>
                    <a:bodyPr/>
                    <a:lstStyle/>
                    <a:p>
                      <a:pPr>
                        <a:buNone/>
                      </a:pPr>
                      <a:r>
                        <a:rPr lang="en-IN" sz="1200" b="1"/>
                        <a:t>EPS</a:t>
                      </a:r>
                    </a:p>
                  </a:txBody>
                  <a:tcPr marL="48662" marR="48662" marT="24331" marB="24331" anchor="ctr"/>
                </a:tc>
                <a:tc>
                  <a:txBody>
                    <a:bodyPr/>
                    <a:lstStyle/>
                    <a:p>
                      <a:pPr>
                        <a:buNone/>
                      </a:pPr>
                      <a:r>
                        <a:rPr lang="en-IN" sz="1200" b="1" dirty="0"/>
                        <a:t>Profitability</a:t>
                      </a:r>
                    </a:p>
                  </a:txBody>
                  <a:tcPr marL="48662" marR="48662" marT="24331" marB="24331" anchor="ctr"/>
                </a:tc>
                <a:tc>
                  <a:txBody>
                    <a:bodyPr/>
                    <a:lstStyle/>
                    <a:p>
                      <a:pPr>
                        <a:buNone/>
                      </a:pPr>
                      <a:r>
                        <a:rPr lang="en-US" sz="1200" b="1"/>
                        <a:t>Shows profit per share. Rising EPS → improving performance. Declining EPS → pressure on profits.</a:t>
                      </a:r>
                    </a:p>
                  </a:txBody>
                  <a:tcPr marL="48662" marR="48662" marT="24331" marB="24331" anchor="ctr"/>
                </a:tc>
                <a:extLst>
                  <a:ext uri="{0D108BD9-81ED-4DB2-BD59-A6C34878D82A}">
                    <a16:rowId xmlns:a16="http://schemas.microsoft.com/office/drawing/2014/main" val="310874465"/>
                  </a:ext>
                </a:extLst>
              </a:tr>
              <a:tr h="901793">
                <a:tc>
                  <a:txBody>
                    <a:bodyPr/>
                    <a:lstStyle/>
                    <a:p>
                      <a:pPr>
                        <a:buNone/>
                      </a:pPr>
                      <a:r>
                        <a:rPr lang="en-IN" sz="1200" b="1"/>
                        <a:t>ROE</a:t>
                      </a:r>
                    </a:p>
                  </a:txBody>
                  <a:tcPr marL="48662" marR="48662" marT="24331" marB="24331" anchor="ctr"/>
                </a:tc>
                <a:tc>
                  <a:txBody>
                    <a:bodyPr/>
                    <a:lstStyle/>
                    <a:p>
                      <a:pPr>
                        <a:buNone/>
                      </a:pPr>
                      <a:r>
                        <a:rPr lang="en-IN" sz="1200" b="1" dirty="0"/>
                        <a:t>Capital Efficiency</a:t>
                      </a:r>
                    </a:p>
                  </a:txBody>
                  <a:tcPr marL="48662" marR="48662" marT="24331" marB="24331" anchor="ctr"/>
                </a:tc>
                <a:tc>
                  <a:txBody>
                    <a:bodyPr/>
                    <a:lstStyle/>
                    <a:p>
                      <a:pPr>
                        <a:buNone/>
                      </a:pPr>
                      <a:r>
                        <a:rPr lang="en-US" sz="1200" b="1"/>
                        <a:t>Indicates how effectively the company uses shareholder capital. High ROE → efficient management; extremely high ROE with high debt → risky.</a:t>
                      </a:r>
                    </a:p>
                  </a:txBody>
                  <a:tcPr marL="48662" marR="48662" marT="24331" marB="24331" anchor="ctr"/>
                </a:tc>
                <a:extLst>
                  <a:ext uri="{0D108BD9-81ED-4DB2-BD59-A6C34878D82A}">
                    <a16:rowId xmlns:a16="http://schemas.microsoft.com/office/drawing/2014/main" val="922419565"/>
                  </a:ext>
                </a:extLst>
              </a:tr>
              <a:tr h="732705">
                <a:tc>
                  <a:txBody>
                    <a:bodyPr/>
                    <a:lstStyle/>
                    <a:p>
                      <a:pPr>
                        <a:buNone/>
                      </a:pPr>
                      <a:r>
                        <a:rPr lang="en-IN" sz="1200" b="1"/>
                        <a:t>Debt</a:t>
                      </a:r>
                    </a:p>
                  </a:txBody>
                  <a:tcPr marL="48662" marR="48662" marT="24331" marB="24331" anchor="ctr"/>
                </a:tc>
                <a:tc>
                  <a:txBody>
                    <a:bodyPr/>
                    <a:lstStyle/>
                    <a:p>
                      <a:pPr>
                        <a:buNone/>
                      </a:pPr>
                      <a:r>
                        <a:rPr lang="en-IN" sz="1200" b="1"/>
                        <a:t>Risk</a:t>
                      </a:r>
                    </a:p>
                  </a:txBody>
                  <a:tcPr marL="48662" marR="48662" marT="24331" marB="24331" anchor="ctr"/>
                </a:tc>
                <a:tc>
                  <a:txBody>
                    <a:bodyPr/>
                    <a:lstStyle/>
                    <a:p>
                      <a:pPr>
                        <a:buNone/>
                      </a:pPr>
                      <a:r>
                        <a:rPr lang="en-US" sz="1200" b="1" dirty="0"/>
                        <a:t>Measures reliance on borrowed capital. High debt → higher financial risk. Low debt → stability and flexibility.</a:t>
                      </a:r>
                    </a:p>
                  </a:txBody>
                  <a:tcPr marL="48662" marR="48662" marT="24331" marB="24331" anchor="ctr"/>
                </a:tc>
                <a:extLst>
                  <a:ext uri="{0D108BD9-81ED-4DB2-BD59-A6C34878D82A}">
                    <a16:rowId xmlns:a16="http://schemas.microsoft.com/office/drawing/2014/main" val="3759984110"/>
                  </a:ext>
                </a:extLst>
              </a:tr>
              <a:tr h="732705">
                <a:tc>
                  <a:txBody>
                    <a:bodyPr/>
                    <a:lstStyle/>
                    <a:p>
                      <a:pPr>
                        <a:buNone/>
                      </a:pPr>
                      <a:r>
                        <a:rPr lang="en-IN" sz="1200" b="1"/>
                        <a:t>Growth</a:t>
                      </a:r>
                    </a:p>
                  </a:txBody>
                  <a:tcPr marL="48662" marR="48662" marT="24331" marB="24331" anchor="ctr"/>
                </a:tc>
                <a:tc>
                  <a:txBody>
                    <a:bodyPr/>
                    <a:lstStyle/>
                    <a:p>
                      <a:pPr>
                        <a:buNone/>
                      </a:pPr>
                      <a:r>
                        <a:rPr lang="en-IN" sz="1200" b="1"/>
                        <a:t>Sustainability</a:t>
                      </a:r>
                    </a:p>
                  </a:txBody>
                  <a:tcPr marL="48662" marR="48662" marT="24331" marB="24331" anchor="ctr"/>
                </a:tc>
                <a:tc>
                  <a:txBody>
                    <a:bodyPr/>
                    <a:lstStyle/>
                    <a:p>
                      <a:pPr>
                        <a:buNone/>
                      </a:pPr>
                      <a:r>
                        <a:rPr lang="en-US" sz="1200" b="1" dirty="0"/>
                        <a:t>Captures revenue and profit growth trends. Consistent growth → sustainable performance. Volatile growth → caution.</a:t>
                      </a:r>
                    </a:p>
                  </a:txBody>
                  <a:tcPr marL="48662" marR="48662" marT="24331" marB="24331" anchor="ctr"/>
                </a:tc>
                <a:extLst>
                  <a:ext uri="{0D108BD9-81ED-4DB2-BD59-A6C34878D82A}">
                    <a16:rowId xmlns:a16="http://schemas.microsoft.com/office/drawing/2014/main" val="4235943573"/>
                  </a:ext>
                </a:extLst>
              </a:tr>
            </a:tbl>
          </a:graphicData>
        </a:graphic>
      </p:graphicFrame>
      <p:sp>
        <p:nvSpPr>
          <p:cNvPr id="12" name="TextBox 11">
            <a:extLst>
              <a:ext uri="{FF2B5EF4-FFF2-40B4-BE49-F238E27FC236}">
                <a16:creationId xmlns:a16="http://schemas.microsoft.com/office/drawing/2014/main" id="{8393610F-E1E2-8FAD-CB67-DB4DF03BB655}"/>
              </a:ext>
            </a:extLst>
          </p:cNvPr>
          <p:cNvSpPr txBox="1"/>
          <p:nvPr/>
        </p:nvSpPr>
        <p:spPr>
          <a:xfrm>
            <a:off x="239485" y="5468982"/>
            <a:ext cx="11887199" cy="1200329"/>
          </a:xfrm>
          <a:prstGeom prst="rect">
            <a:avLst/>
          </a:prstGeom>
          <a:noFill/>
        </p:spPr>
        <p:txBody>
          <a:bodyPr wrap="square">
            <a:spAutoFit/>
          </a:bodyPr>
          <a:lstStyle/>
          <a:p>
            <a:r>
              <a:rPr lang="en-US" b="1" dirty="0"/>
              <a:t>The Fundamentals Agent evaluates the core financial health of a company. It looks at metrics like PE, EPS, ROE, debt, and growth, normalizes them across peers, and converts them into easy-to-understand scores and explanations. This helps us understand whether a company is fundamentally strong, efficient, and sustainable, providing a clear basis for investment insights without relying on short-term price movements.</a:t>
            </a:r>
            <a:endParaRPr lang="en-IN" b="1" dirty="0"/>
          </a:p>
        </p:txBody>
      </p:sp>
    </p:spTree>
    <p:extLst>
      <p:ext uri="{BB962C8B-B14F-4D97-AF65-F5344CB8AC3E}">
        <p14:creationId xmlns:p14="http://schemas.microsoft.com/office/powerpoint/2010/main" val="3643309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2503E-B348-2D8A-9E3B-6EF192458B26}"/>
              </a:ext>
            </a:extLst>
          </p:cNvPr>
          <p:cNvSpPr>
            <a:spLocks noGrp="1"/>
          </p:cNvSpPr>
          <p:nvPr>
            <p:ph type="title"/>
          </p:nvPr>
        </p:nvSpPr>
        <p:spPr>
          <a:xfrm>
            <a:off x="546464" y="330926"/>
            <a:ext cx="10131425" cy="585410"/>
          </a:xfrm>
        </p:spPr>
        <p:txBody>
          <a:bodyPr>
            <a:normAutofit fontScale="90000"/>
          </a:bodyPr>
          <a:lstStyle/>
          <a:p>
            <a:r>
              <a:rPr lang="en-IN" b="1" u="sng" dirty="0"/>
              <a:t>TECHNICAL AGENT</a:t>
            </a:r>
          </a:p>
        </p:txBody>
      </p:sp>
      <p:graphicFrame>
        <p:nvGraphicFramePr>
          <p:cNvPr id="4" name="Table 3">
            <a:extLst>
              <a:ext uri="{FF2B5EF4-FFF2-40B4-BE49-F238E27FC236}">
                <a16:creationId xmlns:a16="http://schemas.microsoft.com/office/drawing/2014/main" id="{D458B3EE-5646-15FB-5419-D71C4DC76276}"/>
              </a:ext>
            </a:extLst>
          </p:cNvPr>
          <p:cNvGraphicFramePr>
            <a:graphicFrameLocks noGrp="1"/>
          </p:cNvGraphicFramePr>
          <p:nvPr>
            <p:extLst>
              <p:ext uri="{D42A27DB-BD31-4B8C-83A1-F6EECF244321}">
                <p14:modId xmlns:p14="http://schemas.microsoft.com/office/powerpoint/2010/main" val="1877332616"/>
              </p:ext>
            </p:extLst>
          </p:nvPr>
        </p:nvGraphicFramePr>
        <p:xfrm>
          <a:off x="313509" y="1036320"/>
          <a:ext cx="11486604" cy="4354287"/>
        </p:xfrm>
        <a:graphic>
          <a:graphicData uri="http://schemas.openxmlformats.org/drawingml/2006/table">
            <a:tbl>
              <a:tblPr>
                <a:tableStyleId>{3C2FFA5D-87B4-456A-9821-1D502468CF0F}</a:tableStyleId>
              </a:tblPr>
              <a:tblGrid>
                <a:gridCol w="3828868">
                  <a:extLst>
                    <a:ext uri="{9D8B030D-6E8A-4147-A177-3AD203B41FA5}">
                      <a16:colId xmlns:a16="http://schemas.microsoft.com/office/drawing/2014/main" val="3131502182"/>
                    </a:ext>
                  </a:extLst>
                </a:gridCol>
                <a:gridCol w="3828868">
                  <a:extLst>
                    <a:ext uri="{9D8B030D-6E8A-4147-A177-3AD203B41FA5}">
                      <a16:colId xmlns:a16="http://schemas.microsoft.com/office/drawing/2014/main" val="1534238639"/>
                    </a:ext>
                  </a:extLst>
                </a:gridCol>
                <a:gridCol w="3828868">
                  <a:extLst>
                    <a:ext uri="{9D8B030D-6E8A-4147-A177-3AD203B41FA5}">
                      <a16:colId xmlns:a16="http://schemas.microsoft.com/office/drawing/2014/main" val="2729603079"/>
                    </a:ext>
                  </a:extLst>
                </a:gridCol>
              </a:tblGrid>
              <a:tr h="258372">
                <a:tc>
                  <a:txBody>
                    <a:bodyPr/>
                    <a:lstStyle/>
                    <a:p>
                      <a:pPr>
                        <a:buNone/>
                      </a:pPr>
                      <a:r>
                        <a:rPr lang="en-IN" sz="1200" b="1" dirty="0"/>
                        <a:t>Indicator</a:t>
                      </a:r>
                    </a:p>
                  </a:txBody>
                  <a:tcPr marL="40552" marR="40552" marT="20276" marB="20276" anchor="ctr"/>
                </a:tc>
                <a:tc>
                  <a:txBody>
                    <a:bodyPr/>
                    <a:lstStyle/>
                    <a:p>
                      <a:pPr>
                        <a:buNone/>
                      </a:pPr>
                      <a:r>
                        <a:rPr lang="en-IN" sz="1200" b="1"/>
                        <a:t>Purpose</a:t>
                      </a:r>
                    </a:p>
                  </a:txBody>
                  <a:tcPr marL="40552" marR="40552" marT="20276" marB="20276" anchor="ctr"/>
                </a:tc>
                <a:tc>
                  <a:txBody>
                    <a:bodyPr/>
                    <a:lstStyle/>
                    <a:p>
                      <a:pPr>
                        <a:buNone/>
                      </a:pPr>
                      <a:r>
                        <a:rPr lang="en-IN" sz="1200" b="1"/>
                        <a:t>Detailed Explanation</a:t>
                      </a:r>
                    </a:p>
                  </a:txBody>
                  <a:tcPr marL="40552" marR="40552" marT="20276" marB="20276" anchor="ctr"/>
                </a:tc>
                <a:extLst>
                  <a:ext uri="{0D108BD9-81ED-4DB2-BD59-A6C34878D82A}">
                    <a16:rowId xmlns:a16="http://schemas.microsoft.com/office/drawing/2014/main" val="2808298322"/>
                  </a:ext>
                </a:extLst>
              </a:tr>
              <a:tr h="736335">
                <a:tc>
                  <a:txBody>
                    <a:bodyPr/>
                    <a:lstStyle/>
                    <a:p>
                      <a:pPr>
                        <a:buNone/>
                      </a:pPr>
                      <a:r>
                        <a:rPr lang="en-IN" sz="1200" b="1" dirty="0"/>
                        <a:t>RSI (Relative Strength Index)</a:t>
                      </a:r>
                    </a:p>
                  </a:txBody>
                  <a:tcPr marL="40552" marR="40552" marT="20276" marB="20276" anchor="ctr"/>
                </a:tc>
                <a:tc>
                  <a:txBody>
                    <a:bodyPr/>
                    <a:lstStyle/>
                    <a:p>
                      <a:pPr>
                        <a:buNone/>
                      </a:pPr>
                      <a:r>
                        <a:rPr lang="en-IN" sz="1200" b="1"/>
                        <a:t>Momentum extremes</a:t>
                      </a:r>
                    </a:p>
                  </a:txBody>
                  <a:tcPr marL="40552" marR="40552" marT="20276" marB="20276" anchor="ctr"/>
                </a:tc>
                <a:tc>
                  <a:txBody>
                    <a:bodyPr/>
                    <a:lstStyle/>
                    <a:p>
                      <a:pPr>
                        <a:buNone/>
                      </a:pPr>
                      <a:r>
                        <a:rPr lang="en-US" sz="1200" b="1"/>
                        <a:t>Measures the speed of price movements. High RSI → potential overbought conditions; Low RSI → potential oversold conditions. Captures market sentiment.</a:t>
                      </a:r>
                    </a:p>
                  </a:txBody>
                  <a:tcPr marL="40552" marR="40552" marT="20276" marB="20276" anchor="ctr"/>
                </a:tc>
                <a:extLst>
                  <a:ext uri="{0D108BD9-81ED-4DB2-BD59-A6C34878D82A}">
                    <a16:rowId xmlns:a16="http://schemas.microsoft.com/office/drawing/2014/main" val="1146452729"/>
                  </a:ext>
                </a:extLst>
              </a:tr>
              <a:tr h="736335">
                <a:tc>
                  <a:txBody>
                    <a:bodyPr/>
                    <a:lstStyle/>
                    <a:p>
                      <a:pPr>
                        <a:buNone/>
                      </a:pPr>
                      <a:r>
                        <a:rPr lang="en-IN" sz="1200" b="1" dirty="0"/>
                        <a:t>MACD (Moving Average Convergence Divergence)</a:t>
                      </a:r>
                    </a:p>
                  </a:txBody>
                  <a:tcPr marL="40552" marR="40552" marT="20276" marB="20276" anchor="ctr"/>
                </a:tc>
                <a:tc>
                  <a:txBody>
                    <a:bodyPr/>
                    <a:lstStyle/>
                    <a:p>
                      <a:pPr>
                        <a:buNone/>
                      </a:pPr>
                      <a:r>
                        <a:rPr lang="en-IN" sz="1200" b="1"/>
                        <a:t>Trend momentum</a:t>
                      </a:r>
                    </a:p>
                  </a:txBody>
                  <a:tcPr marL="40552" marR="40552" marT="20276" marB="20276" anchor="ctr"/>
                </a:tc>
                <a:tc>
                  <a:txBody>
                    <a:bodyPr/>
                    <a:lstStyle/>
                    <a:p>
                      <a:pPr>
                        <a:buNone/>
                      </a:pPr>
                      <a:r>
                        <a:rPr lang="en-US" sz="1200" b="1"/>
                        <a:t>Tracks momentum changes via moving average crossovers. Helps identify shifts in market sentiment, not exact price prediction.</a:t>
                      </a:r>
                    </a:p>
                  </a:txBody>
                  <a:tcPr marL="40552" marR="40552" marT="20276" marB="20276" anchor="ctr"/>
                </a:tc>
                <a:extLst>
                  <a:ext uri="{0D108BD9-81ED-4DB2-BD59-A6C34878D82A}">
                    <a16:rowId xmlns:a16="http://schemas.microsoft.com/office/drawing/2014/main" val="178389558"/>
                  </a:ext>
                </a:extLst>
              </a:tr>
              <a:tr h="874415">
                <a:tc>
                  <a:txBody>
                    <a:bodyPr/>
                    <a:lstStyle/>
                    <a:p>
                      <a:pPr>
                        <a:buNone/>
                      </a:pPr>
                      <a:r>
                        <a:rPr lang="en-IN" sz="1200" b="1" dirty="0"/>
                        <a:t>MA20 / MA50 / MA200</a:t>
                      </a:r>
                    </a:p>
                  </a:txBody>
                  <a:tcPr marL="40552" marR="40552" marT="20276" marB="20276" anchor="ctr"/>
                </a:tc>
                <a:tc>
                  <a:txBody>
                    <a:bodyPr/>
                    <a:lstStyle/>
                    <a:p>
                      <a:pPr>
                        <a:buNone/>
                      </a:pPr>
                      <a:r>
                        <a:rPr lang="en-IN" sz="1200" b="1" dirty="0"/>
                        <a:t>Trend direction</a:t>
                      </a:r>
                    </a:p>
                  </a:txBody>
                  <a:tcPr marL="40552" marR="40552" marT="20276" marB="20276" anchor="ctr"/>
                </a:tc>
                <a:tc>
                  <a:txBody>
                    <a:bodyPr/>
                    <a:lstStyle/>
                    <a:p>
                      <a:pPr>
                        <a:buNone/>
                      </a:pPr>
                      <a:r>
                        <a:rPr lang="en-US" sz="1200" b="1"/>
                        <a:t>Short, medium, and long-term moving averages. Price above → positive market bias; Price below → cautious sentiment. Shows alignment of trends across timeframes.</a:t>
                      </a:r>
                    </a:p>
                  </a:txBody>
                  <a:tcPr marL="40552" marR="40552" marT="20276" marB="20276" anchor="ctr"/>
                </a:tc>
                <a:extLst>
                  <a:ext uri="{0D108BD9-81ED-4DB2-BD59-A6C34878D82A}">
                    <a16:rowId xmlns:a16="http://schemas.microsoft.com/office/drawing/2014/main" val="1243937653"/>
                  </a:ext>
                </a:extLst>
              </a:tr>
              <a:tr h="874415">
                <a:tc>
                  <a:txBody>
                    <a:bodyPr/>
                    <a:lstStyle/>
                    <a:p>
                      <a:pPr>
                        <a:buNone/>
                      </a:pPr>
                      <a:r>
                        <a:rPr lang="en-IN" sz="1200" b="1"/>
                        <a:t>Bollinger Bands</a:t>
                      </a:r>
                    </a:p>
                  </a:txBody>
                  <a:tcPr marL="40552" marR="40552" marT="20276" marB="20276" anchor="ctr"/>
                </a:tc>
                <a:tc>
                  <a:txBody>
                    <a:bodyPr/>
                    <a:lstStyle/>
                    <a:p>
                      <a:pPr>
                        <a:buNone/>
                      </a:pPr>
                      <a:r>
                        <a:rPr lang="en-IN" sz="1200" b="1" dirty="0"/>
                        <a:t>Volatility</a:t>
                      </a:r>
                    </a:p>
                  </a:txBody>
                  <a:tcPr marL="40552" marR="40552" marT="20276" marB="20276" anchor="ctr"/>
                </a:tc>
                <a:tc>
                  <a:txBody>
                    <a:bodyPr/>
                    <a:lstStyle/>
                    <a:p>
                      <a:pPr>
                        <a:buNone/>
                      </a:pPr>
                      <a:r>
                        <a:rPr lang="en-US" sz="1200" b="1" dirty="0"/>
                        <a:t>Measures price volatility relative to recent history. Expanding bands → high volatility; contracting bands → low volatility. Reflects market stress or calm.</a:t>
                      </a:r>
                    </a:p>
                  </a:txBody>
                  <a:tcPr marL="40552" marR="40552" marT="20276" marB="20276" anchor="ctr"/>
                </a:tc>
                <a:extLst>
                  <a:ext uri="{0D108BD9-81ED-4DB2-BD59-A6C34878D82A}">
                    <a16:rowId xmlns:a16="http://schemas.microsoft.com/office/drawing/2014/main" val="793151293"/>
                  </a:ext>
                </a:extLst>
              </a:tr>
              <a:tr h="874415">
                <a:tc>
                  <a:txBody>
                    <a:bodyPr/>
                    <a:lstStyle/>
                    <a:p>
                      <a:pPr>
                        <a:buNone/>
                      </a:pPr>
                      <a:r>
                        <a:rPr lang="en-IN" sz="1200" b="1"/>
                        <a:t>Volume</a:t>
                      </a:r>
                    </a:p>
                  </a:txBody>
                  <a:tcPr marL="40552" marR="40552" marT="20276" marB="20276" anchor="ctr"/>
                </a:tc>
                <a:tc>
                  <a:txBody>
                    <a:bodyPr/>
                    <a:lstStyle/>
                    <a:p>
                      <a:pPr>
                        <a:buNone/>
                      </a:pPr>
                      <a:r>
                        <a:rPr lang="en-IN" sz="1200" b="1"/>
                        <a:t>Market participation</a:t>
                      </a:r>
                    </a:p>
                  </a:txBody>
                  <a:tcPr marL="40552" marR="40552" marT="20276" marB="20276" anchor="ctr"/>
                </a:tc>
                <a:tc>
                  <a:txBody>
                    <a:bodyPr/>
                    <a:lstStyle/>
                    <a:p>
                      <a:pPr>
                        <a:buNone/>
                      </a:pPr>
                      <a:r>
                        <a:rPr lang="en-US" sz="1200" b="1" dirty="0"/>
                        <a:t>Tracks trading activity. Rising price with strong volume → strong conviction. Rising price with weak volume → weak move. Captures participation, not price guarantee.</a:t>
                      </a:r>
                    </a:p>
                  </a:txBody>
                  <a:tcPr marL="40552" marR="40552" marT="20276" marB="20276" anchor="ctr"/>
                </a:tc>
                <a:extLst>
                  <a:ext uri="{0D108BD9-81ED-4DB2-BD59-A6C34878D82A}">
                    <a16:rowId xmlns:a16="http://schemas.microsoft.com/office/drawing/2014/main" val="2956502870"/>
                  </a:ext>
                </a:extLst>
              </a:tr>
            </a:tbl>
          </a:graphicData>
        </a:graphic>
      </p:graphicFrame>
      <p:sp>
        <p:nvSpPr>
          <p:cNvPr id="6" name="TextBox 5">
            <a:extLst>
              <a:ext uri="{FF2B5EF4-FFF2-40B4-BE49-F238E27FC236}">
                <a16:creationId xmlns:a16="http://schemas.microsoft.com/office/drawing/2014/main" id="{2E32030A-CC84-E86D-F58B-8464F76AB078}"/>
              </a:ext>
            </a:extLst>
          </p:cNvPr>
          <p:cNvSpPr txBox="1"/>
          <p:nvPr/>
        </p:nvSpPr>
        <p:spPr>
          <a:xfrm>
            <a:off x="200297" y="5510591"/>
            <a:ext cx="11800114" cy="1200329"/>
          </a:xfrm>
          <a:prstGeom prst="rect">
            <a:avLst/>
          </a:prstGeom>
          <a:noFill/>
        </p:spPr>
        <p:txBody>
          <a:bodyPr wrap="square">
            <a:spAutoFit/>
          </a:bodyPr>
          <a:lstStyle/>
          <a:p>
            <a:r>
              <a:rPr lang="en-US" b="1" dirty="0"/>
              <a:t>The Technical Indicators Agent analyzes how the market is behaving around a stock. It looks at price trends, momentum, volatility, and trading volume to understand trader sentiment and market psychology. This helps us see whether the market is enthusiastic, cautious, or neutral, providing context that complements the company’s fundamental health—without trying to predict exact future prices.</a:t>
            </a:r>
            <a:endParaRPr lang="en-IN" b="1" dirty="0"/>
          </a:p>
        </p:txBody>
      </p:sp>
    </p:spTree>
    <p:extLst>
      <p:ext uri="{BB962C8B-B14F-4D97-AF65-F5344CB8AC3E}">
        <p14:creationId xmlns:p14="http://schemas.microsoft.com/office/powerpoint/2010/main" val="1382648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D8A22-AE1C-35C4-A288-5DCDA1F313FD}"/>
              </a:ext>
            </a:extLst>
          </p:cNvPr>
          <p:cNvSpPr>
            <a:spLocks noGrp="1"/>
          </p:cNvSpPr>
          <p:nvPr>
            <p:ph type="title"/>
          </p:nvPr>
        </p:nvSpPr>
        <p:spPr>
          <a:xfrm>
            <a:off x="616133" y="130630"/>
            <a:ext cx="10131425" cy="457200"/>
          </a:xfrm>
        </p:spPr>
        <p:txBody>
          <a:bodyPr>
            <a:normAutofit fontScale="90000"/>
          </a:bodyPr>
          <a:lstStyle/>
          <a:p>
            <a:r>
              <a:rPr lang="en-IN" b="1" u="sng" dirty="0"/>
              <a:t>FORECASTING AGENT</a:t>
            </a:r>
          </a:p>
        </p:txBody>
      </p:sp>
      <p:graphicFrame>
        <p:nvGraphicFramePr>
          <p:cNvPr id="5" name="Table 4">
            <a:extLst>
              <a:ext uri="{FF2B5EF4-FFF2-40B4-BE49-F238E27FC236}">
                <a16:creationId xmlns:a16="http://schemas.microsoft.com/office/drawing/2014/main" id="{37D35C68-1516-5E6B-AC87-9A721060124B}"/>
              </a:ext>
            </a:extLst>
          </p:cNvPr>
          <p:cNvGraphicFramePr>
            <a:graphicFrameLocks noGrp="1"/>
          </p:cNvGraphicFramePr>
          <p:nvPr>
            <p:extLst>
              <p:ext uri="{D42A27DB-BD31-4B8C-83A1-F6EECF244321}">
                <p14:modId xmlns:p14="http://schemas.microsoft.com/office/powerpoint/2010/main" val="671090137"/>
              </p:ext>
            </p:extLst>
          </p:nvPr>
        </p:nvGraphicFramePr>
        <p:xfrm>
          <a:off x="326571" y="766354"/>
          <a:ext cx="11538858" cy="5756366"/>
        </p:xfrm>
        <a:graphic>
          <a:graphicData uri="http://schemas.openxmlformats.org/drawingml/2006/table">
            <a:tbl>
              <a:tblPr>
                <a:tableStyleId>{3C2FFA5D-87B4-456A-9821-1D502468CF0F}</a:tableStyleId>
              </a:tblPr>
              <a:tblGrid>
                <a:gridCol w="688623">
                  <a:extLst>
                    <a:ext uri="{9D8B030D-6E8A-4147-A177-3AD203B41FA5}">
                      <a16:colId xmlns:a16="http://schemas.microsoft.com/office/drawing/2014/main" val="1038317745"/>
                    </a:ext>
                  </a:extLst>
                </a:gridCol>
                <a:gridCol w="3157663">
                  <a:extLst>
                    <a:ext uri="{9D8B030D-6E8A-4147-A177-3AD203B41FA5}">
                      <a16:colId xmlns:a16="http://schemas.microsoft.com/office/drawing/2014/main" val="2817436459"/>
                    </a:ext>
                  </a:extLst>
                </a:gridCol>
                <a:gridCol w="1923143">
                  <a:extLst>
                    <a:ext uri="{9D8B030D-6E8A-4147-A177-3AD203B41FA5}">
                      <a16:colId xmlns:a16="http://schemas.microsoft.com/office/drawing/2014/main" val="1520786031"/>
                    </a:ext>
                  </a:extLst>
                </a:gridCol>
                <a:gridCol w="1923143">
                  <a:extLst>
                    <a:ext uri="{9D8B030D-6E8A-4147-A177-3AD203B41FA5}">
                      <a16:colId xmlns:a16="http://schemas.microsoft.com/office/drawing/2014/main" val="805677072"/>
                    </a:ext>
                  </a:extLst>
                </a:gridCol>
                <a:gridCol w="1923143">
                  <a:extLst>
                    <a:ext uri="{9D8B030D-6E8A-4147-A177-3AD203B41FA5}">
                      <a16:colId xmlns:a16="http://schemas.microsoft.com/office/drawing/2014/main" val="438267829"/>
                    </a:ext>
                  </a:extLst>
                </a:gridCol>
                <a:gridCol w="1923143">
                  <a:extLst>
                    <a:ext uri="{9D8B030D-6E8A-4147-A177-3AD203B41FA5}">
                      <a16:colId xmlns:a16="http://schemas.microsoft.com/office/drawing/2014/main" val="2244884184"/>
                    </a:ext>
                  </a:extLst>
                </a:gridCol>
              </a:tblGrid>
              <a:tr h="293691">
                <a:tc>
                  <a:txBody>
                    <a:bodyPr/>
                    <a:lstStyle/>
                    <a:p>
                      <a:pPr algn="ctr">
                        <a:buNone/>
                      </a:pPr>
                      <a:r>
                        <a:rPr lang="en-IN" sz="1200" b="1" dirty="0"/>
                        <a:t>Model</a:t>
                      </a:r>
                    </a:p>
                  </a:txBody>
                  <a:tcPr marL="18621" marR="18621" marT="9310" marB="9310" anchor="ctr"/>
                </a:tc>
                <a:tc>
                  <a:txBody>
                    <a:bodyPr/>
                    <a:lstStyle/>
                    <a:p>
                      <a:pPr algn="ctr">
                        <a:buNone/>
                      </a:pPr>
                      <a:r>
                        <a:rPr lang="en-US" sz="1200" b="1" dirty="0"/>
                        <a:t>How It Makes Predictions in Your Project</a:t>
                      </a:r>
                    </a:p>
                  </a:txBody>
                  <a:tcPr marL="18621" marR="18621" marT="9310" marB="9310" anchor="ctr"/>
                </a:tc>
                <a:tc>
                  <a:txBody>
                    <a:bodyPr/>
                    <a:lstStyle/>
                    <a:p>
                      <a:pPr algn="ctr">
                        <a:buNone/>
                      </a:pPr>
                      <a:r>
                        <a:rPr lang="en-IN" sz="1200" b="1" dirty="0"/>
                        <a:t>Key Inputs / Features</a:t>
                      </a:r>
                    </a:p>
                  </a:txBody>
                  <a:tcPr marL="18621" marR="18621" marT="9310" marB="9310" anchor="ctr"/>
                </a:tc>
                <a:tc>
                  <a:txBody>
                    <a:bodyPr/>
                    <a:lstStyle/>
                    <a:p>
                      <a:pPr algn="ctr">
                        <a:buNone/>
                      </a:pPr>
                      <a:r>
                        <a:rPr lang="en-IN" sz="1200" b="1"/>
                        <a:t>Strengths in Project</a:t>
                      </a:r>
                    </a:p>
                  </a:txBody>
                  <a:tcPr marL="18621" marR="18621" marT="9310" marB="9310" anchor="ctr"/>
                </a:tc>
                <a:tc>
                  <a:txBody>
                    <a:bodyPr/>
                    <a:lstStyle/>
                    <a:p>
                      <a:pPr algn="ctr">
                        <a:buNone/>
                      </a:pPr>
                      <a:r>
                        <a:rPr lang="en-IN" sz="1200" b="1"/>
                        <a:t>Limitations / Weaknesses</a:t>
                      </a:r>
                    </a:p>
                  </a:txBody>
                  <a:tcPr marL="18621" marR="18621" marT="9310" marB="9310" anchor="ctr"/>
                </a:tc>
                <a:tc>
                  <a:txBody>
                    <a:bodyPr/>
                    <a:lstStyle/>
                    <a:p>
                      <a:pPr algn="ctr">
                        <a:buNone/>
                      </a:pPr>
                      <a:r>
                        <a:rPr lang="en-IN" sz="1200" b="1"/>
                        <a:t>Role in Ensemble</a:t>
                      </a:r>
                    </a:p>
                  </a:txBody>
                  <a:tcPr marL="18621" marR="18621" marT="9310" marB="9310" anchor="ctr"/>
                </a:tc>
                <a:extLst>
                  <a:ext uri="{0D108BD9-81ED-4DB2-BD59-A6C34878D82A}">
                    <a16:rowId xmlns:a16="http://schemas.microsoft.com/office/drawing/2014/main" val="695863763"/>
                  </a:ext>
                </a:extLst>
              </a:tr>
              <a:tr h="1879630">
                <a:tc>
                  <a:txBody>
                    <a:bodyPr/>
                    <a:lstStyle/>
                    <a:p>
                      <a:pPr algn="ctr">
                        <a:buNone/>
                      </a:pPr>
                      <a:r>
                        <a:rPr lang="en-IN" sz="1200" b="1" dirty="0"/>
                        <a:t>ARIMA</a:t>
                      </a:r>
                    </a:p>
                  </a:txBody>
                  <a:tcPr marL="18621" marR="18621" marT="9310" marB="9310" anchor="ctr"/>
                </a:tc>
                <a:tc>
                  <a:txBody>
                    <a:bodyPr/>
                    <a:lstStyle/>
                    <a:p>
                      <a:pPr algn="ctr">
                        <a:buNone/>
                      </a:pPr>
                      <a:r>
                        <a:rPr lang="en-US" sz="1200" b="1" dirty="0"/>
                        <a:t>Uses past closing prices to model trends and seasonal patterns. It fits an autoregressive and moving average model, applying differencing to ensure stationarity. Predicts future prices as a function of linear combinations of past values and past forecast errors.</a:t>
                      </a:r>
                    </a:p>
                  </a:txBody>
                  <a:tcPr marL="18621" marR="18621" marT="9310" marB="9310" anchor="ctr"/>
                </a:tc>
                <a:tc>
                  <a:txBody>
                    <a:bodyPr/>
                    <a:lstStyle/>
                    <a:p>
                      <a:pPr algn="ctr">
                        <a:buNone/>
                      </a:pPr>
                      <a:r>
                        <a:rPr lang="en-US" sz="1200" b="1" dirty="0"/>
                        <a:t>- Past daily closing prices (OHLC) - Differenced prices for stationarity - Optional seasonality parameter (monthly trend)</a:t>
                      </a:r>
                    </a:p>
                  </a:txBody>
                  <a:tcPr marL="18621" marR="18621" marT="9310" marB="9310" anchor="ctr"/>
                </a:tc>
                <a:tc>
                  <a:txBody>
                    <a:bodyPr/>
                    <a:lstStyle/>
                    <a:p>
                      <a:pPr algn="ctr">
                        <a:buNone/>
                      </a:pPr>
                      <a:r>
                        <a:rPr lang="en-US" sz="1200" b="1" dirty="0"/>
                        <a:t>- Simple baseline - Captures overall linear trend - Highly interpretable - Works well for smooth, stable stocks</a:t>
                      </a:r>
                    </a:p>
                  </a:txBody>
                  <a:tcPr marL="18621" marR="18621" marT="9310" marB="9310" anchor="ctr"/>
                </a:tc>
                <a:tc>
                  <a:txBody>
                    <a:bodyPr/>
                    <a:lstStyle/>
                    <a:p>
                      <a:pPr algn="ctr">
                        <a:buNone/>
                      </a:pPr>
                      <a:r>
                        <a:rPr lang="en-US" sz="1200" b="1"/>
                        <a:t>- Cannot model non-linear market behavior - Sensitive to shocks (volatility spikes) - Limited for long-term trend extrapolation</a:t>
                      </a:r>
                    </a:p>
                  </a:txBody>
                  <a:tcPr marL="18621" marR="18621" marT="9310" marB="9310" anchor="ctr"/>
                </a:tc>
                <a:tc>
                  <a:txBody>
                    <a:bodyPr/>
                    <a:lstStyle/>
                    <a:p>
                      <a:pPr algn="ctr">
                        <a:buNone/>
                      </a:pPr>
                      <a:r>
                        <a:rPr lang="en-US" sz="1200" b="1"/>
                        <a:t>Provides baseline trend; ensures other models are compared to a reliable, interpretable reference. Stabilizes ensemble output.</a:t>
                      </a:r>
                    </a:p>
                  </a:txBody>
                  <a:tcPr marL="18621" marR="18621" marT="9310" marB="9310" anchor="ctr"/>
                </a:tc>
                <a:extLst>
                  <a:ext uri="{0D108BD9-81ED-4DB2-BD59-A6C34878D82A}">
                    <a16:rowId xmlns:a16="http://schemas.microsoft.com/office/drawing/2014/main" val="1420087734"/>
                  </a:ext>
                </a:extLst>
              </a:tr>
              <a:tr h="1879630">
                <a:tc>
                  <a:txBody>
                    <a:bodyPr/>
                    <a:lstStyle/>
                    <a:p>
                      <a:pPr algn="ctr">
                        <a:buNone/>
                      </a:pPr>
                      <a:r>
                        <a:rPr lang="en-IN" sz="1200" b="1" dirty="0"/>
                        <a:t>XGBoost</a:t>
                      </a:r>
                    </a:p>
                  </a:txBody>
                  <a:tcPr marL="18621" marR="18621" marT="9310" marB="9310" anchor="ctr"/>
                </a:tc>
                <a:tc>
                  <a:txBody>
                    <a:bodyPr/>
                    <a:lstStyle/>
                    <a:p>
                      <a:pPr algn="ctr">
                        <a:buNone/>
                      </a:pPr>
                      <a:r>
                        <a:rPr lang="en-US" sz="1200" b="1" dirty="0"/>
                        <a:t>Gradient boosting decision tree ensemble. Predicts next day/month closing price using tabular features. Learns non-linear relationships by iteratively minimizing prediction error. Produces prediction by aggregating weighted outputs of multiple decision trees.</a:t>
                      </a:r>
                    </a:p>
                  </a:txBody>
                  <a:tcPr marL="18621" marR="18621" marT="9310" marB="9310" anchor="ctr"/>
                </a:tc>
                <a:tc>
                  <a:txBody>
                    <a:bodyPr/>
                    <a:lstStyle/>
                    <a:p>
                      <a:pPr algn="ctr">
                        <a:buNone/>
                      </a:pPr>
                      <a:r>
                        <a:rPr lang="en-US" sz="1200" b="1" dirty="0"/>
                        <a:t>- Lagged closing prices (1-30 days) - Rolling statistics (MA5, MA20, std) - Technical indicators (RSI, MACD, BB) - Volume metrics</a:t>
                      </a:r>
                    </a:p>
                  </a:txBody>
                  <a:tcPr marL="18621" marR="18621" marT="9310" marB="9310" anchor="ctr"/>
                </a:tc>
                <a:tc>
                  <a:txBody>
                    <a:bodyPr/>
                    <a:lstStyle/>
                    <a:p>
                      <a:pPr algn="ctr">
                        <a:buNone/>
                      </a:pPr>
                      <a:r>
                        <a:rPr lang="en-US" sz="1200" b="1"/>
                        <a:t>- Captures short-term non-linear patterns - Handles feature interactions - Fast training and prediction - Resistant to overfitting with tuning</a:t>
                      </a:r>
                    </a:p>
                  </a:txBody>
                  <a:tcPr marL="18621" marR="18621" marT="9310" marB="9310" anchor="ctr"/>
                </a:tc>
                <a:tc>
                  <a:txBody>
                    <a:bodyPr/>
                    <a:lstStyle/>
                    <a:p>
                      <a:pPr algn="ctr">
                        <a:buNone/>
                      </a:pPr>
                      <a:r>
                        <a:rPr lang="en-US" sz="1200" b="1"/>
                        <a:t>- Cannot directly model sequences longer than features provided - Sensitive to feature engineering - May miss long-term dependencies</a:t>
                      </a:r>
                    </a:p>
                  </a:txBody>
                  <a:tcPr marL="18621" marR="18621" marT="9310" marB="9310" anchor="ctr"/>
                </a:tc>
                <a:tc>
                  <a:txBody>
                    <a:bodyPr/>
                    <a:lstStyle/>
                    <a:p>
                      <a:pPr algn="ctr">
                        <a:buNone/>
                      </a:pPr>
                      <a:r>
                        <a:rPr lang="en-US" sz="1200" b="1"/>
                        <a:t>Captures short-term price fluctuations, detects reversal points. Complements LSTM by focusing on high-frequency patterns.</a:t>
                      </a:r>
                    </a:p>
                  </a:txBody>
                  <a:tcPr marL="18621" marR="18621" marT="9310" marB="9310" anchor="ctr"/>
                </a:tc>
                <a:extLst>
                  <a:ext uri="{0D108BD9-81ED-4DB2-BD59-A6C34878D82A}">
                    <a16:rowId xmlns:a16="http://schemas.microsoft.com/office/drawing/2014/main" val="1985996164"/>
                  </a:ext>
                </a:extLst>
              </a:tr>
              <a:tr h="1703415">
                <a:tc>
                  <a:txBody>
                    <a:bodyPr/>
                    <a:lstStyle/>
                    <a:p>
                      <a:pPr algn="ctr">
                        <a:buNone/>
                      </a:pPr>
                      <a:r>
                        <a:rPr lang="en-IN" sz="1200" b="1" dirty="0"/>
                        <a:t>LSTM</a:t>
                      </a:r>
                    </a:p>
                  </a:txBody>
                  <a:tcPr marL="18621" marR="18621" marT="9310" marB="9310" anchor="ctr"/>
                </a:tc>
                <a:tc>
                  <a:txBody>
                    <a:bodyPr/>
                    <a:lstStyle/>
                    <a:p>
                      <a:pPr algn="ctr">
                        <a:buNone/>
                      </a:pPr>
                      <a:r>
                        <a:rPr lang="en-US" sz="1200" b="1" dirty="0"/>
                        <a:t>Long Short-Term Memory network. Processes sequences of historical prices and technical features. Maintains internal memory cells to retain long-term dependencies. Prediction is based on hidden state representing past trends.</a:t>
                      </a:r>
                    </a:p>
                  </a:txBody>
                  <a:tcPr marL="18621" marR="18621" marT="9310" marB="9310" anchor="ctr"/>
                </a:tc>
                <a:tc>
                  <a:txBody>
                    <a:bodyPr/>
                    <a:lstStyle/>
                    <a:p>
                      <a:pPr algn="ctr">
                        <a:buNone/>
                      </a:pPr>
                      <a:r>
                        <a:rPr lang="en-US" sz="1200" b="1"/>
                        <a:t>- Sequence of past closing prices - Sequence of technical indicators - Optional macro signals (volume, market indices)</a:t>
                      </a:r>
                    </a:p>
                  </a:txBody>
                  <a:tcPr marL="18621" marR="18621" marT="9310" marB="9310" anchor="ctr"/>
                </a:tc>
                <a:tc>
                  <a:txBody>
                    <a:bodyPr/>
                    <a:lstStyle/>
                    <a:p>
                      <a:pPr algn="ctr">
                        <a:buNone/>
                      </a:pPr>
                      <a:r>
                        <a:rPr lang="en-US" sz="1200" b="1"/>
                        <a:t>- Captures long-term temporal dependencies - Handles non-linear relationships - Can model prolonged trends and market cycles</a:t>
                      </a:r>
                    </a:p>
                  </a:txBody>
                  <a:tcPr marL="18621" marR="18621" marT="9310" marB="9310" anchor="ctr"/>
                </a:tc>
                <a:tc>
                  <a:txBody>
                    <a:bodyPr/>
                    <a:lstStyle/>
                    <a:p>
                      <a:pPr algn="ctr">
                        <a:buNone/>
                      </a:pPr>
                      <a:r>
                        <a:rPr lang="en-US" sz="1200" b="1" dirty="0"/>
                        <a:t>- Computationally intensive - Needs large amount of data - Harder to interpret than ARIMA/</a:t>
                      </a:r>
                      <a:r>
                        <a:rPr lang="en-US" sz="1200" b="1" dirty="0" err="1"/>
                        <a:t>XGBoost</a:t>
                      </a:r>
                      <a:r>
                        <a:rPr lang="en-US" sz="1200" b="1" dirty="0"/>
                        <a:t> - Risk of overfitting</a:t>
                      </a:r>
                    </a:p>
                  </a:txBody>
                  <a:tcPr marL="18621" marR="18621" marT="9310" marB="9310" anchor="ctr"/>
                </a:tc>
                <a:tc>
                  <a:txBody>
                    <a:bodyPr/>
                    <a:lstStyle/>
                    <a:p>
                      <a:pPr algn="ctr">
                        <a:buNone/>
                      </a:pPr>
                      <a:r>
                        <a:rPr lang="en-US" sz="1200" b="1" dirty="0"/>
                        <a:t>Captures long-term patterns, ensures ensemble forecasts consider trends beyond short-term noise.</a:t>
                      </a:r>
                    </a:p>
                  </a:txBody>
                  <a:tcPr marL="18621" marR="18621" marT="9310" marB="9310" anchor="ctr"/>
                </a:tc>
                <a:extLst>
                  <a:ext uri="{0D108BD9-81ED-4DB2-BD59-A6C34878D82A}">
                    <a16:rowId xmlns:a16="http://schemas.microsoft.com/office/drawing/2014/main" val="557486691"/>
                  </a:ext>
                </a:extLst>
              </a:tr>
            </a:tbl>
          </a:graphicData>
        </a:graphic>
      </p:graphicFrame>
    </p:spTree>
    <p:extLst>
      <p:ext uri="{BB962C8B-B14F-4D97-AF65-F5344CB8AC3E}">
        <p14:creationId xmlns:p14="http://schemas.microsoft.com/office/powerpoint/2010/main" val="1698362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E1FBA-CFFB-4D1A-6407-68D58E522BB7}"/>
              </a:ext>
            </a:extLst>
          </p:cNvPr>
          <p:cNvSpPr>
            <a:spLocks noGrp="1"/>
          </p:cNvSpPr>
          <p:nvPr>
            <p:ph type="title"/>
          </p:nvPr>
        </p:nvSpPr>
        <p:spPr>
          <a:xfrm>
            <a:off x="685801" y="609601"/>
            <a:ext cx="10131425" cy="457200"/>
          </a:xfrm>
        </p:spPr>
        <p:txBody>
          <a:bodyPr>
            <a:normAutofit fontScale="90000"/>
          </a:bodyPr>
          <a:lstStyle/>
          <a:p>
            <a:r>
              <a:rPr lang="en-IN" b="1" u="sng" dirty="0"/>
              <a:t>DECISION AGENT</a:t>
            </a:r>
          </a:p>
        </p:txBody>
      </p:sp>
      <p:graphicFrame>
        <p:nvGraphicFramePr>
          <p:cNvPr id="4" name="Table 3">
            <a:extLst>
              <a:ext uri="{FF2B5EF4-FFF2-40B4-BE49-F238E27FC236}">
                <a16:creationId xmlns:a16="http://schemas.microsoft.com/office/drawing/2014/main" id="{7928930D-11F7-F043-5BFD-B2D9589115D0}"/>
              </a:ext>
            </a:extLst>
          </p:cNvPr>
          <p:cNvGraphicFramePr>
            <a:graphicFrameLocks noGrp="1"/>
          </p:cNvGraphicFramePr>
          <p:nvPr>
            <p:extLst>
              <p:ext uri="{D42A27DB-BD31-4B8C-83A1-F6EECF244321}">
                <p14:modId xmlns:p14="http://schemas.microsoft.com/office/powerpoint/2010/main" val="2165865809"/>
              </p:ext>
            </p:extLst>
          </p:nvPr>
        </p:nvGraphicFramePr>
        <p:xfrm>
          <a:off x="470263" y="1254034"/>
          <a:ext cx="11373393" cy="5146767"/>
        </p:xfrm>
        <a:graphic>
          <a:graphicData uri="http://schemas.openxmlformats.org/drawingml/2006/table">
            <a:tbl>
              <a:tblPr>
                <a:tableStyleId>{3C2FFA5D-87B4-456A-9821-1D502468CF0F}</a:tableStyleId>
              </a:tblPr>
              <a:tblGrid>
                <a:gridCol w="3791131">
                  <a:extLst>
                    <a:ext uri="{9D8B030D-6E8A-4147-A177-3AD203B41FA5}">
                      <a16:colId xmlns:a16="http://schemas.microsoft.com/office/drawing/2014/main" val="1781091690"/>
                    </a:ext>
                  </a:extLst>
                </a:gridCol>
                <a:gridCol w="3791131">
                  <a:extLst>
                    <a:ext uri="{9D8B030D-6E8A-4147-A177-3AD203B41FA5}">
                      <a16:colId xmlns:a16="http://schemas.microsoft.com/office/drawing/2014/main" val="3749978964"/>
                    </a:ext>
                  </a:extLst>
                </a:gridCol>
                <a:gridCol w="3791131">
                  <a:extLst>
                    <a:ext uri="{9D8B030D-6E8A-4147-A177-3AD203B41FA5}">
                      <a16:colId xmlns:a16="http://schemas.microsoft.com/office/drawing/2014/main" val="2852817328"/>
                    </a:ext>
                  </a:extLst>
                </a:gridCol>
              </a:tblGrid>
              <a:tr h="289958">
                <a:tc>
                  <a:txBody>
                    <a:bodyPr/>
                    <a:lstStyle/>
                    <a:p>
                      <a:pPr>
                        <a:buNone/>
                      </a:pPr>
                      <a:r>
                        <a:rPr lang="en-IN" sz="1400" b="1" dirty="0"/>
                        <a:t>Function</a:t>
                      </a:r>
                    </a:p>
                  </a:txBody>
                  <a:tcPr marL="51404" marR="51404" marT="25702" marB="25702" anchor="ctr"/>
                </a:tc>
                <a:tc>
                  <a:txBody>
                    <a:bodyPr/>
                    <a:lstStyle/>
                    <a:p>
                      <a:pPr>
                        <a:buNone/>
                      </a:pPr>
                      <a:r>
                        <a:rPr lang="en-IN" sz="1400" b="1"/>
                        <a:t>Description</a:t>
                      </a:r>
                    </a:p>
                  </a:txBody>
                  <a:tcPr marL="51404" marR="51404" marT="25702" marB="25702" anchor="ctr"/>
                </a:tc>
                <a:tc>
                  <a:txBody>
                    <a:bodyPr/>
                    <a:lstStyle/>
                    <a:p>
                      <a:pPr>
                        <a:buNone/>
                      </a:pPr>
                      <a:r>
                        <a:rPr lang="en-US" sz="1400" b="1"/>
                        <a:t>How It Works in Project</a:t>
                      </a:r>
                    </a:p>
                  </a:txBody>
                  <a:tcPr marL="51404" marR="51404" marT="25702" marB="25702" anchor="ctr"/>
                </a:tc>
                <a:extLst>
                  <a:ext uri="{0D108BD9-81ED-4DB2-BD59-A6C34878D82A}">
                    <a16:rowId xmlns:a16="http://schemas.microsoft.com/office/drawing/2014/main" val="2916321133"/>
                  </a:ext>
                </a:extLst>
              </a:tr>
              <a:tr h="724897">
                <a:tc>
                  <a:txBody>
                    <a:bodyPr/>
                    <a:lstStyle/>
                    <a:p>
                      <a:pPr>
                        <a:buNone/>
                      </a:pPr>
                      <a:r>
                        <a:rPr lang="en-IN" sz="1400" b="1" dirty="0"/>
                        <a:t>Aggregate Fundamental Score</a:t>
                      </a:r>
                    </a:p>
                  </a:txBody>
                  <a:tcPr marL="51404" marR="51404" marT="25702" marB="25702" anchor="ctr"/>
                </a:tc>
                <a:tc>
                  <a:txBody>
                    <a:bodyPr/>
                    <a:lstStyle/>
                    <a:p>
                      <a:pPr>
                        <a:buNone/>
                      </a:pPr>
                      <a:r>
                        <a:rPr lang="en-US" sz="1400" b="1"/>
                        <a:t>Combines financial health metrics into a single score</a:t>
                      </a:r>
                    </a:p>
                  </a:txBody>
                  <a:tcPr marL="51404" marR="51404" marT="25702" marB="25702" anchor="ctr"/>
                </a:tc>
                <a:tc>
                  <a:txBody>
                    <a:bodyPr/>
                    <a:lstStyle/>
                    <a:p>
                      <a:pPr>
                        <a:buNone/>
                      </a:pPr>
                      <a:r>
                        <a:rPr lang="en-US" sz="1400" b="1"/>
                        <a:t>Uses PE, EPS, ROE, Debt-Equity, Cash Flow. Weighted sum normalized 0–100</a:t>
                      </a:r>
                    </a:p>
                  </a:txBody>
                  <a:tcPr marL="51404" marR="51404" marT="25702" marB="25702" anchor="ctr"/>
                </a:tc>
                <a:extLst>
                  <a:ext uri="{0D108BD9-81ED-4DB2-BD59-A6C34878D82A}">
                    <a16:rowId xmlns:a16="http://schemas.microsoft.com/office/drawing/2014/main" val="2266417901"/>
                  </a:ext>
                </a:extLst>
              </a:tr>
              <a:tr h="724897">
                <a:tc>
                  <a:txBody>
                    <a:bodyPr/>
                    <a:lstStyle/>
                    <a:p>
                      <a:pPr>
                        <a:buNone/>
                      </a:pPr>
                      <a:r>
                        <a:rPr lang="en-IN" sz="1400" b="1" dirty="0"/>
                        <a:t>Aggregate Technical Score</a:t>
                      </a:r>
                    </a:p>
                  </a:txBody>
                  <a:tcPr marL="51404" marR="51404" marT="25702" marB="25702" anchor="ctr"/>
                </a:tc>
                <a:tc>
                  <a:txBody>
                    <a:bodyPr/>
                    <a:lstStyle/>
                    <a:p>
                      <a:pPr>
                        <a:buNone/>
                      </a:pPr>
                      <a:r>
                        <a:rPr lang="en-US" sz="1400" b="1"/>
                        <a:t>Converts market indicators into numeric score</a:t>
                      </a:r>
                    </a:p>
                  </a:txBody>
                  <a:tcPr marL="51404" marR="51404" marT="25702" marB="25702" anchor="ctr"/>
                </a:tc>
                <a:tc>
                  <a:txBody>
                    <a:bodyPr/>
                    <a:lstStyle/>
                    <a:p>
                      <a:pPr>
                        <a:buNone/>
                      </a:pPr>
                      <a:r>
                        <a:rPr lang="en-US" sz="1400" b="1" dirty="0"/>
                        <a:t>Uses RSI, MACD, Bollinger Bands, Moving Averages. Signals → score 0–100</a:t>
                      </a:r>
                    </a:p>
                  </a:txBody>
                  <a:tcPr marL="51404" marR="51404" marT="25702" marB="25702" anchor="ctr"/>
                </a:tc>
                <a:extLst>
                  <a:ext uri="{0D108BD9-81ED-4DB2-BD59-A6C34878D82A}">
                    <a16:rowId xmlns:a16="http://schemas.microsoft.com/office/drawing/2014/main" val="4178990020"/>
                  </a:ext>
                </a:extLst>
              </a:tr>
              <a:tr h="724897">
                <a:tc>
                  <a:txBody>
                    <a:bodyPr/>
                    <a:lstStyle/>
                    <a:p>
                      <a:pPr>
                        <a:buNone/>
                      </a:pPr>
                      <a:r>
                        <a:rPr lang="en-IN" sz="1400" b="1"/>
                        <a:t>Incorporate Forecast Direction</a:t>
                      </a:r>
                    </a:p>
                  </a:txBody>
                  <a:tcPr marL="51404" marR="51404" marT="25702" marB="25702" anchor="ctr"/>
                </a:tc>
                <a:tc>
                  <a:txBody>
                    <a:bodyPr/>
                    <a:lstStyle/>
                    <a:p>
                      <a:pPr>
                        <a:buNone/>
                      </a:pPr>
                      <a:r>
                        <a:rPr lang="en-US" sz="1400" b="1"/>
                        <a:t>Adjusts decision based on predicted trend</a:t>
                      </a:r>
                    </a:p>
                  </a:txBody>
                  <a:tcPr marL="51404" marR="51404" marT="25702" marB="25702" anchor="ctr"/>
                </a:tc>
                <a:tc>
                  <a:txBody>
                    <a:bodyPr/>
                    <a:lstStyle/>
                    <a:p>
                      <a:pPr>
                        <a:buNone/>
                      </a:pPr>
                      <a:r>
                        <a:rPr lang="en-US" sz="1400" b="1"/>
                        <a:t>Ensemble model output (ARIMA + XGBoost + LSTM). Trend classified as UP / DOWN / STABLE</a:t>
                      </a:r>
                    </a:p>
                  </a:txBody>
                  <a:tcPr marL="51404" marR="51404" marT="25702" marB="25702" anchor="ctr"/>
                </a:tc>
                <a:extLst>
                  <a:ext uri="{0D108BD9-81ED-4DB2-BD59-A6C34878D82A}">
                    <a16:rowId xmlns:a16="http://schemas.microsoft.com/office/drawing/2014/main" val="947181554"/>
                  </a:ext>
                </a:extLst>
              </a:tr>
              <a:tr h="724897">
                <a:tc>
                  <a:txBody>
                    <a:bodyPr/>
                    <a:lstStyle/>
                    <a:p>
                      <a:pPr>
                        <a:buNone/>
                      </a:pPr>
                      <a:r>
                        <a:rPr lang="en-IN" sz="1400" b="1"/>
                        <a:t>Apply Risk Flags</a:t>
                      </a:r>
                    </a:p>
                  </a:txBody>
                  <a:tcPr marL="51404" marR="51404" marT="25702" marB="25702" anchor="ctr"/>
                </a:tc>
                <a:tc>
                  <a:txBody>
                    <a:bodyPr/>
                    <a:lstStyle/>
                    <a:p>
                      <a:pPr>
                        <a:buNone/>
                      </a:pPr>
                      <a:r>
                        <a:rPr lang="en-US" sz="1400" b="1" dirty="0"/>
                        <a:t>Accounts for volatility and potential anomalies</a:t>
                      </a:r>
                    </a:p>
                  </a:txBody>
                  <a:tcPr marL="51404" marR="51404" marT="25702" marB="25702" anchor="ctr"/>
                </a:tc>
                <a:tc>
                  <a:txBody>
                    <a:bodyPr/>
                    <a:lstStyle/>
                    <a:p>
                      <a:pPr>
                        <a:buNone/>
                      </a:pPr>
                      <a:r>
                        <a:rPr lang="en-US" sz="1400" b="1"/>
                        <a:t>Detects high volatility, unusual volume, recent negative events → dampens confidence</a:t>
                      </a:r>
                    </a:p>
                  </a:txBody>
                  <a:tcPr marL="51404" marR="51404" marT="25702" marB="25702" anchor="ctr"/>
                </a:tc>
                <a:extLst>
                  <a:ext uri="{0D108BD9-81ED-4DB2-BD59-A6C34878D82A}">
                    <a16:rowId xmlns:a16="http://schemas.microsoft.com/office/drawing/2014/main" val="2819221549"/>
                  </a:ext>
                </a:extLst>
              </a:tr>
              <a:tr h="724897">
                <a:tc>
                  <a:txBody>
                    <a:bodyPr/>
                    <a:lstStyle/>
                    <a:p>
                      <a:pPr>
                        <a:buNone/>
                      </a:pPr>
                      <a:r>
                        <a:rPr lang="en-IN" sz="1400" b="1"/>
                        <a:t>Compute Confidence Level</a:t>
                      </a:r>
                    </a:p>
                  </a:txBody>
                  <a:tcPr marL="51404" marR="51404" marT="25702" marB="25702" anchor="ctr"/>
                </a:tc>
                <a:tc>
                  <a:txBody>
                    <a:bodyPr/>
                    <a:lstStyle/>
                    <a:p>
                      <a:pPr>
                        <a:buNone/>
                      </a:pPr>
                      <a:r>
                        <a:rPr lang="en-US" sz="1400" b="1" dirty="0"/>
                        <a:t>Measures reliability of BUY/HOLD/SELL</a:t>
                      </a:r>
                    </a:p>
                  </a:txBody>
                  <a:tcPr marL="51404" marR="51404" marT="25702" marB="25702" anchor="ctr"/>
                </a:tc>
                <a:tc>
                  <a:txBody>
                    <a:bodyPr/>
                    <a:lstStyle/>
                    <a:p>
                      <a:pPr>
                        <a:buNone/>
                      </a:pPr>
                      <a:r>
                        <a:rPr lang="en-US" sz="1400" b="1" dirty="0"/>
                        <a:t>Weighted combination of fundamental + technical + forecast - risk adjustments</a:t>
                      </a:r>
                    </a:p>
                  </a:txBody>
                  <a:tcPr marL="51404" marR="51404" marT="25702" marB="25702" anchor="ctr"/>
                </a:tc>
                <a:extLst>
                  <a:ext uri="{0D108BD9-81ED-4DB2-BD59-A6C34878D82A}">
                    <a16:rowId xmlns:a16="http://schemas.microsoft.com/office/drawing/2014/main" val="458084323"/>
                  </a:ext>
                </a:extLst>
              </a:tr>
              <a:tr h="507427">
                <a:tc>
                  <a:txBody>
                    <a:bodyPr/>
                    <a:lstStyle/>
                    <a:p>
                      <a:pPr>
                        <a:buNone/>
                      </a:pPr>
                      <a:r>
                        <a:rPr lang="en-IN" sz="1400" b="1"/>
                        <a:t>Generate Final Decision</a:t>
                      </a:r>
                    </a:p>
                  </a:txBody>
                  <a:tcPr marL="51404" marR="51404" marT="25702" marB="25702" anchor="ctr"/>
                </a:tc>
                <a:tc>
                  <a:txBody>
                    <a:bodyPr/>
                    <a:lstStyle/>
                    <a:p>
                      <a:pPr>
                        <a:buNone/>
                      </a:pPr>
                      <a:r>
                        <a:rPr lang="en-IN" sz="1400" b="1"/>
                        <a:t>Outputs actionable recommendation</a:t>
                      </a:r>
                    </a:p>
                  </a:txBody>
                  <a:tcPr marL="51404" marR="51404" marT="25702" marB="25702" anchor="ctr"/>
                </a:tc>
                <a:tc>
                  <a:txBody>
                    <a:bodyPr/>
                    <a:lstStyle/>
                    <a:p>
                      <a:pPr>
                        <a:buNone/>
                      </a:pPr>
                      <a:r>
                        <a:rPr lang="en-US" sz="1400" b="1" dirty="0"/>
                        <a:t>If confidence &gt; threshold → BUY; medium → HOLD; low → SELL</a:t>
                      </a:r>
                    </a:p>
                  </a:txBody>
                  <a:tcPr marL="51404" marR="51404" marT="25702" marB="25702" anchor="ctr"/>
                </a:tc>
                <a:extLst>
                  <a:ext uri="{0D108BD9-81ED-4DB2-BD59-A6C34878D82A}">
                    <a16:rowId xmlns:a16="http://schemas.microsoft.com/office/drawing/2014/main" val="1313621485"/>
                  </a:ext>
                </a:extLst>
              </a:tr>
              <a:tr h="724897">
                <a:tc>
                  <a:txBody>
                    <a:bodyPr/>
                    <a:lstStyle/>
                    <a:p>
                      <a:pPr>
                        <a:buNone/>
                      </a:pPr>
                      <a:r>
                        <a:rPr lang="en-IN" sz="1400" b="1"/>
                        <a:t>Explain Decision</a:t>
                      </a:r>
                    </a:p>
                  </a:txBody>
                  <a:tcPr marL="51404" marR="51404" marT="25702" marB="25702" anchor="ctr"/>
                </a:tc>
                <a:tc>
                  <a:txBody>
                    <a:bodyPr/>
                    <a:lstStyle/>
                    <a:p>
                      <a:pPr>
                        <a:buNone/>
                      </a:pPr>
                      <a:r>
                        <a:rPr lang="en-IN" sz="1400" b="1"/>
                        <a:t>Provides human-readable reasoning</a:t>
                      </a:r>
                    </a:p>
                  </a:txBody>
                  <a:tcPr marL="51404" marR="51404" marT="25702" marB="25702" anchor="ctr"/>
                </a:tc>
                <a:tc>
                  <a:txBody>
                    <a:bodyPr/>
                    <a:lstStyle/>
                    <a:p>
                      <a:pPr>
                        <a:buNone/>
                      </a:pPr>
                      <a:r>
                        <a:rPr lang="en-US" sz="1400" b="1" dirty="0"/>
                        <a:t>Converts scores and flags into layman text for frontend cards or LLM explanation</a:t>
                      </a:r>
                    </a:p>
                  </a:txBody>
                  <a:tcPr marL="51404" marR="51404" marT="25702" marB="25702" anchor="ctr"/>
                </a:tc>
                <a:extLst>
                  <a:ext uri="{0D108BD9-81ED-4DB2-BD59-A6C34878D82A}">
                    <a16:rowId xmlns:a16="http://schemas.microsoft.com/office/drawing/2014/main" val="3271927325"/>
                  </a:ext>
                </a:extLst>
              </a:tr>
            </a:tbl>
          </a:graphicData>
        </a:graphic>
      </p:graphicFrame>
    </p:spTree>
    <p:extLst>
      <p:ext uri="{BB962C8B-B14F-4D97-AF65-F5344CB8AC3E}">
        <p14:creationId xmlns:p14="http://schemas.microsoft.com/office/powerpoint/2010/main" val="679955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98257-B3B3-D622-F283-1369C8DFB7DF}"/>
              </a:ext>
            </a:extLst>
          </p:cNvPr>
          <p:cNvSpPr>
            <a:spLocks noGrp="1"/>
          </p:cNvSpPr>
          <p:nvPr>
            <p:ph type="title"/>
          </p:nvPr>
        </p:nvSpPr>
        <p:spPr>
          <a:xfrm>
            <a:off x="685801" y="165463"/>
            <a:ext cx="10131425" cy="357051"/>
          </a:xfrm>
        </p:spPr>
        <p:txBody>
          <a:bodyPr>
            <a:normAutofit fontScale="90000"/>
          </a:bodyPr>
          <a:lstStyle/>
          <a:p>
            <a:r>
              <a:rPr lang="en-IN" b="1" u="sng" dirty="0"/>
              <a:t>CONFIDENCE SCORE AND RISK HANDLING</a:t>
            </a:r>
          </a:p>
        </p:txBody>
      </p:sp>
      <p:graphicFrame>
        <p:nvGraphicFramePr>
          <p:cNvPr id="4" name="Table 3">
            <a:extLst>
              <a:ext uri="{FF2B5EF4-FFF2-40B4-BE49-F238E27FC236}">
                <a16:creationId xmlns:a16="http://schemas.microsoft.com/office/drawing/2014/main" id="{BE776145-13CD-6640-A580-78F1456D8157}"/>
              </a:ext>
            </a:extLst>
          </p:cNvPr>
          <p:cNvGraphicFramePr>
            <a:graphicFrameLocks noGrp="1"/>
          </p:cNvGraphicFramePr>
          <p:nvPr>
            <p:extLst>
              <p:ext uri="{D42A27DB-BD31-4B8C-83A1-F6EECF244321}">
                <p14:modId xmlns:p14="http://schemas.microsoft.com/office/powerpoint/2010/main" val="3907057391"/>
              </p:ext>
            </p:extLst>
          </p:nvPr>
        </p:nvGraphicFramePr>
        <p:xfrm>
          <a:off x="209006" y="670559"/>
          <a:ext cx="11773990" cy="6021978"/>
        </p:xfrm>
        <a:graphic>
          <a:graphicData uri="http://schemas.openxmlformats.org/drawingml/2006/table">
            <a:tbl>
              <a:tblPr>
                <a:tableStyleId>{3C2FFA5D-87B4-456A-9821-1D502468CF0F}</a:tableStyleId>
              </a:tblPr>
              <a:tblGrid>
                <a:gridCol w="1402080">
                  <a:extLst>
                    <a:ext uri="{9D8B030D-6E8A-4147-A177-3AD203B41FA5}">
                      <a16:colId xmlns:a16="http://schemas.microsoft.com/office/drawing/2014/main" val="311079189"/>
                    </a:ext>
                  </a:extLst>
                </a:gridCol>
                <a:gridCol w="2899954">
                  <a:extLst>
                    <a:ext uri="{9D8B030D-6E8A-4147-A177-3AD203B41FA5}">
                      <a16:colId xmlns:a16="http://schemas.microsoft.com/office/drawing/2014/main" val="1748133851"/>
                    </a:ext>
                  </a:extLst>
                </a:gridCol>
                <a:gridCol w="2762360">
                  <a:extLst>
                    <a:ext uri="{9D8B030D-6E8A-4147-A177-3AD203B41FA5}">
                      <a16:colId xmlns:a16="http://schemas.microsoft.com/office/drawing/2014/main" val="2768512205"/>
                    </a:ext>
                  </a:extLst>
                </a:gridCol>
                <a:gridCol w="2354798">
                  <a:extLst>
                    <a:ext uri="{9D8B030D-6E8A-4147-A177-3AD203B41FA5}">
                      <a16:colId xmlns:a16="http://schemas.microsoft.com/office/drawing/2014/main" val="1892702892"/>
                    </a:ext>
                  </a:extLst>
                </a:gridCol>
                <a:gridCol w="2354798">
                  <a:extLst>
                    <a:ext uri="{9D8B030D-6E8A-4147-A177-3AD203B41FA5}">
                      <a16:colId xmlns:a16="http://schemas.microsoft.com/office/drawing/2014/main" val="474377079"/>
                    </a:ext>
                  </a:extLst>
                </a:gridCol>
              </a:tblGrid>
              <a:tr h="247964">
                <a:tc>
                  <a:txBody>
                    <a:bodyPr/>
                    <a:lstStyle/>
                    <a:p>
                      <a:pPr algn="ctr">
                        <a:buNone/>
                      </a:pPr>
                      <a:r>
                        <a:rPr lang="en-IN" sz="1100" b="1" dirty="0"/>
                        <a:t>Component</a:t>
                      </a:r>
                    </a:p>
                  </a:txBody>
                  <a:tcPr marL="21469" marR="21469" marT="10734" marB="10734" anchor="ctr"/>
                </a:tc>
                <a:tc>
                  <a:txBody>
                    <a:bodyPr/>
                    <a:lstStyle/>
                    <a:p>
                      <a:pPr algn="ctr">
                        <a:buNone/>
                      </a:pPr>
                      <a:r>
                        <a:rPr lang="en-IN" sz="1100" b="1" dirty="0"/>
                        <a:t>Technical Role</a:t>
                      </a:r>
                    </a:p>
                  </a:txBody>
                  <a:tcPr marL="21469" marR="21469" marT="10734" marB="10734" anchor="ctr"/>
                </a:tc>
                <a:tc>
                  <a:txBody>
                    <a:bodyPr/>
                    <a:lstStyle/>
                    <a:p>
                      <a:pPr algn="ctr">
                        <a:buNone/>
                      </a:pPr>
                      <a:r>
                        <a:rPr lang="en-US" sz="1100" b="1"/>
                        <a:t>How It Works in Project</a:t>
                      </a:r>
                    </a:p>
                  </a:txBody>
                  <a:tcPr marL="21469" marR="21469" marT="10734" marB="10734" anchor="ctr"/>
                </a:tc>
                <a:tc>
                  <a:txBody>
                    <a:bodyPr/>
                    <a:lstStyle/>
                    <a:p>
                      <a:pPr algn="ctr">
                        <a:buNone/>
                      </a:pPr>
                      <a:r>
                        <a:rPr lang="en-IN" sz="1100" b="1"/>
                        <a:t>Example / Notes</a:t>
                      </a:r>
                    </a:p>
                  </a:txBody>
                  <a:tcPr marL="21469" marR="21469" marT="10734" marB="10734" anchor="ctr"/>
                </a:tc>
                <a:tc>
                  <a:txBody>
                    <a:bodyPr/>
                    <a:lstStyle/>
                    <a:p>
                      <a:pPr algn="ctr">
                        <a:buNone/>
                      </a:pPr>
                      <a:r>
                        <a:rPr lang="en-IN" sz="1100" b="1"/>
                        <a:t>Talking Points for PPT</a:t>
                      </a:r>
                    </a:p>
                  </a:txBody>
                  <a:tcPr marL="21469" marR="21469" marT="10734" marB="10734" anchor="ctr"/>
                </a:tc>
                <a:extLst>
                  <a:ext uri="{0D108BD9-81ED-4DB2-BD59-A6C34878D82A}">
                    <a16:rowId xmlns:a16="http://schemas.microsoft.com/office/drawing/2014/main" val="3863975882"/>
                  </a:ext>
                </a:extLst>
              </a:tr>
              <a:tr h="991855">
                <a:tc>
                  <a:txBody>
                    <a:bodyPr/>
                    <a:lstStyle/>
                    <a:p>
                      <a:pPr algn="ctr">
                        <a:buNone/>
                      </a:pPr>
                      <a:r>
                        <a:rPr lang="en-IN" sz="1100" b="1" dirty="0"/>
                        <a:t>Confidence %</a:t>
                      </a:r>
                    </a:p>
                  </a:txBody>
                  <a:tcPr marL="21469" marR="21469" marT="10734" marB="10734" anchor="ctr"/>
                </a:tc>
                <a:tc>
                  <a:txBody>
                    <a:bodyPr/>
                    <a:lstStyle/>
                    <a:p>
                      <a:pPr algn="ctr">
                        <a:buNone/>
                      </a:pPr>
                      <a:r>
                        <a:rPr lang="en-US" sz="1100" b="1" dirty="0"/>
                        <a:t>Quantitative measure of prediction reliability</a:t>
                      </a:r>
                    </a:p>
                  </a:txBody>
                  <a:tcPr marL="21469" marR="21469" marT="10734" marB="10734" anchor="ctr"/>
                </a:tc>
                <a:tc>
                  <a:txBody>
                    <a:bodyPr/>
                    <a:lstStyle/>
                    <a:p>
                      <a:pPr algn="ctr">
                        <a:buNone/>
                      </a:pPr>
                      <a:r>
                        <a:rPr lang="en-US" sz="1100" b="1"/>
                        <a:t>Weighted combination of Fundamental Score, Technical Score, and Forecast Strength, reduced by risk factors. Normalized to 0–100.</a:t>
                      </a:r>
                    </a:p>
                  </a:txBody>
                  <a:tcPr marL="21469" marR="21469" marT="10734" marB="10734" anchor="ctr"/>
                </a:tc>
                <a:tc>
                  <a:txBody>
                    <a:bodyPr/>
                    <a:lstStyle/>
                    <a:p>
                      <a:pPr algn="ctr">
                        <a:buNone/>
                      </a:pPr>
                      <a:r>
                        <a:rPr lang="en-US" sz="1100" b="1"/>
                        <a:t>Confidence = 82% → High reliability in recommendation</a:t>
                      </a:r>
                    </a:p>
                  </a:txBody>
                  <a:tcPr marL="21469" marR="21469" marT="10734" marB="10734" anchor="ctr"/>
                </a:tc>
                <a:tc>
                  <a:txBody>
                    <a:bodyPr/>
                    <a:lstStyle/>
                    <a:p>
                      <a:pPr algn="ctr">
                        <a:buNone/>
                      </a:pPr>
                      <a:r>
                        <a:rPr lang="en-US" sz="1100" b="1"/>
                        <a:t>“Shows how confident the system is about BUY/HOLD/SELL; combines multiple signals mathematically.”</a:t>
                      </a:r>
                    </a:p>
                  </a:txBody>
                  <a:tcPr marL="21469" marR="21469" marT="10734" marB="10734" anchor="ctr"/>
                </a:tc>
                <a:extLst>
                  <a:ext uri="{0D108BD9-81ED-4DB2-BD59-A6C34878D82A}">
                    <a16:rowId xmlns:a16="http://schemas.microsoft.com/office/drawing/2014/main" val="2198309471"/>
                  </a:ext>
                </a:extLst>
              </a:tr>
              <a:tr h="673044">
                <a:tc>
                  <a:txBody>
                    <a:bodyPr/>
                    <a:lstStyle/>
                    <a:p>
                      <a:pPr algn="ctr">
                        <a:buNone/>
                      </a:pPr>
                      <a:r>
                        <a:rPr lang="en-IN" sz="1100" b="1"/>
                        <a:t>Fundamental Score</a:t>
                      </a:r>
                    </a:p>
                  </a:txBody>
                  <a:tcPr marL="21469" marR="21469" marT="10734" marB="10734" anchor="ctr"/>
                </a:tc>
                <a:tc>
                  <a:txBody>
                    <a:bodyPr/>
                    <a:lstStyle/>
                    <a:p>
                      <a:pPr algn="ctr">
                        <a:buNone/>
                      </a:pPr>
                      <a:r>
                        <a:rPr lang="en-US" sz="1100" b="1"/>
                        <a:t>Measures company health using financial metrics</a:t>
                      </a:r>
                    </a:p>
                  </a:txBody>
                  <a:tcPr marL="21469" marR="21469" marT="10734" marB="10734" anchor="ctr"/>
                </a:tc>
                <a:tc>
                  <a:txBody>
                    <a:bodyPr/>
                    <a:lstStyle/>
                    <a:p>
                      <a:pPr algn="ctr">
                        <a:buNone/>
                      </a:pPr>
                      <a:r>
                        <a:rPr lang="en-US" sz="1100" b="1" dirty="0"/>
                        <a:t>Weighted scores of metrics like ROE, EPS growth, Debt/Equity, Free Cash Flow. Scaled 0–100.</a:t>
                      </a:r>
                    </a:p>
                  </a:txBody>
                  <a:tcPr marL="21469" marR="21469" marT="10734" marB="10734" anchor="ctr"/>
                </a:tc>
                <a:tc>
                  <a:txBody>
                    <a:bodyPr/>
                    <a:lstStyle/>
                    <a:p>
                      <a:pPr algn="ctr">
                        <a:buNone/>
                      </a:pPr>
                      <a:r>
                        <a:rPr lang="en-IN" sz="1100" b="1"/>
                        <a:t>Score = 75</a:t>
                      </a:r>
                    </a:p>
                  </a:txBody>
                  <a:tcPr marL="21469" marR="21469" marT="10734" marB="10734" anchor="ctr"/>
                </a:tc>
                <a:tc>
                  <a:txBody>
                    <a:bodyPr/>
                    <a:lstStyle/>
                    <a:p>
                      <a:pPr algn="ctr">
                        <a:buNone/>
                      </a:pPr>
                      <a:r>
                        <a:rPr lang="en-US" sz="1100" b="1"/>
                        <a:t>“Reflects company’s underlying financial strength.”</a:t>
                      </a:r>
                    </a:p>
                  </a:txBody>
                  <a:tcPr marL="21469" marR="21469" marT="10734" marB="10734" anchor="ctr"/>
                </a:tc>
                <a:extLst>
                  <a:ext uri="{0D108BD9-81ED-4DB2-BD59-A6C34878D82A}">
                    <a16:rowId xmlns:a16="http://schemas.microsoft.com/office/drawing/2014/main" val="4104889324"/>
                  </a:ext>
                </a:extLst>
              </a:tr>
              <a:tr h="566775">
                <a:tc>
                  <a:txBody>
                    <a:bodyPr/>
                    <a:lstStyle/>
                    <a:p>
                      <a:pPr algn="ctr">
                        <a:buNone/>
                      </a:pPr>
                      <a:r>
                        <a:rPr lang="en-IN" sz="1100" b="1" dirty="0"/>
                        <a:t>Technical Score</a:t>
                      </a:r>
                    </a:p>
                  </a:txBody>
                  <a:tcPr marL="21469" marR="21469" marT="10734" marB="10734" anchor="ctr"/>
                </a:tc>
                <a:tc>
                  <a:txBody>
                    <a:bodyPr/>
                    <a:lstStyle/>
                    <a:p>
                      <a:pPr algn="ctr">
                        <a:buNone/>
                      </a:pPr>
                      <a:r>
                        <a:rPr lang="en-US" sz="1100" b="1"/>
                        <a:t>Measures market momentum / trend strength</a:t>
                      </a:r>
                    </a:p>
                  </a:txBody>
                  <a:tcPr marL="21469" marR="21469" marT="10734" marB="10734" anchor="ctr"/>
                </a:tc>
                <a:tc>
                  <a:txBody>
                    <a:bodyPr/>
                    <a:lstStyle/>
                    <a:p>
                      <a:pPr algn="ctr">
                        <a:buNone/>
                      </a:pPr>
                      <a:r>
                        <a:rPr lang="en-US" sz="1100" b="1" dirty="0"/>
                        <a:t>Converts indicators like RSI, MACD, Bollinger Bands, MA crossovers into numeric score.</a:t>
                      </a:r>
                    </a:p>
                  </a:txBody>
                  <a:tcPr marL="21469" marR="21469" marT="10734" marB="10734" anchor="ctr"/>
                </a:tc>
                <a:tc>
                  <a:txBody>
                    <a:bodyPr/>
                    <a:lstStyle/>
                    <a:p>
                      <a:pPr algn="ctr">
                        <a:buNone/>
                      </a:pPr>
                      <a:r>
                        <a:rPr lang="en-IN" sz="1100" b="1"/>
                        <a:t>Score = 60</a:t>
                      </a:r>
                    </a:p>
                  </a:txBody>
                  <a:tcPr marL="21469" marR="21469" marT="10734" marB="10734" anchor="ctr"/>
                </a:tc>
                <a:tc>
                  <a:txBody>
                    <a:bodyPr/>
                    <a:lstStyle/>
                    <a:p>
                      <a:pPr algn="ctr">
                        <a:buNone/>
                      </a:pPr>
                      <a:r>
                        <a:rPr lang="en-US" sz="1100" b="1"/>
                        <a:t>“Represents short- and medium-term technical trends.”</a:t>
                      </a:r>
                    </a:p>
                  </a:txBody>
                  <a:tcPr marL="21469" marR="21469" marT="10734" marB="10734" anchor="ctr"/>
                </a:tc>
                <a:extLst>
                  <a:ext uri="{0D108BD9-81ED-4DB2-BD59-A6C34878D82A}">
                    <a16:rowId xmlns:a16="http://schemas.microsoft.com/office/drawing/2014/main" val="2456150949"/>
                  </a:ext>
                </a:extLst>
              </a:tr>
              <a:tr h="673044">
                <a:tc>
                  <a:txBody>
                    <a:bodyPr/>
                    <a:lstStyle/>
                    <a:p>
                      <a:pPr algn="ctr">
                        <a:buNone/>
                      </a:pPr>
                      <a:r>
                        <a:rPr lang="en-IN" sz="1100" b="1"/>
                        <a:t>Forecast Strength</a:t>
                      </a:r>
                    </a:p>
                  </a:txBody>
                  <a:tcPr marL="21469" marR="21469" marT="10734" marB="10734" anchor="ctr"/>
                </a:tc>
                <a:tc>
                  <a:txBody>
                    <a:bodyPr/>
                    <a:lstStyle/>
                    <a:p>
                      <a:pPr algn="ctr">
                        <a:buNone/>
                      </a:pPr>
                      <a:r>
                        <a:rPr lang="en-IN" sz="1100" b="1"/>
                        <a:t>Indicates ML prediction confidence</a:t>
                      </a:r>
                    </a:p>
                  </a:txBody>
                  <a:tcPr marL="21469" marR="21469" marT="10734" marB="10734" anchor="ctr"/>
                </a:tc>
                <a:tc>
                  <a:txBody>
                    <a:bodyPr/>
                    <a:lstStyle/>
                    <a:p>
                      <a:pPr algn="ctr">
                        <a:buNone/>
                      </a:pPr>
                      <a:r>
                        <a:rPr lang="en-US" sz="1100" b="1"/>
                        <a:t>Aggregates outputs of ARIMA, XGBoost, LSTM ensemble; stronger ensemble agreement → higher score.</a:t>
                      </a:r>
                    </a:p>
                  </a:txBody>
                  <a:tcPr marL="21469" marR="21469" marT="10734" marB="10734" anchor="ctr"/>
                </a:tc>
                <a:tc>
                  <a:txBody>
                    <a:bodyPr/>
                    <a:lstStyle/>
                    <a:p>
                      <a:pPr algn="ctr">
                        <a:buNone/>
                      </a:pPr>
                      <a:r>
                        <a:rPr lang="en-IN" sz="1100" b="1" dirty="0"/>
                        <a:t>Direction = UP, Strength = 70</a:t>
                      </a:r>
                    </a:p>
                  </a:txBody>
                  <a:tcPr marL="21469" marR="21469" marT="10734" marB="10734" anchor="ctr"/>
                </a:tc>
                <a:tc>
                  <a:txBody>
                    <a:bodyPr/>
                    <a:lstStyle/>
                    <a:p>
                      <a:pPr algn="ctr">
                        <a:buNone/>
                      </a:pPr>
                      <a:r>
                        <a:rPr lang="en-US" sz="1100" b="1"/>
                        <a:t>“How strong the prediction is based on past model performance and agreement.”</a:t>
                      </a:r>
                    </a:p>
                  </a:txBody>
                  <a:tcPr marL="21469" marR="21469" marT="10734" marB="10734" anchor="ctr"/>
                </a:tc>
                <a:extLst>
                  <a:ext uri="{0D108BD9-81ED-4DB2-BD59-A6C34878D82A}">
                    <a16:rowId xmlns:a16="http://schemas.microsoft.com/office/drawing/2014/main" val="1765820523"/>
                  </a:ext>
                </a:extLst>
              </a:tr>
              <a:tr h="885586">
                <a:tc>
                  <a:txBody>
                    <a:bodyPr/>
                    <a:lstStyle/>
                    <a:p>
                      <a:pPr algn="ctr">
                        <a:buNone/>
                      </a:pPr>
                      <a:r>
                        <a:rPr lang="en-IN" sz="1100" b="1"/>
                        <a:t>Risk Flags</a:t>
                      </a:r>
                    </a:p>
                  </a:txBody>
                  <a:tcPr marL="21469" marR="21469" marT="10734" marB="10734" anchor="ctr"/>
                </a:tc>
                <a:tc>
                  <a:txBody>
                    <a:bodyPr/>
                    <a:lstStyle/>
                    <a:p>
                      <a:pPr algn="ctr">
                        <a:buNone/>
                      </a:pPr>
                      <a:r>
                        <a:rPr lang="en-IN" sz="1100" b="1"/>
                        <a:t>Highlight potential uncertainties / hazards</a:t>
                      </a:r>
                    </a:p>
                  </a:txBody>
                  <a:tcPr marL="21469" marR="21469" marT="10734" marB="10734" anchor="ctr"/>
                </a:tc>
                <a:tc>
                  <a:txBody>
                    <a:bodyPr/>
                    <a:lstStyle/>
                    <a:p>
                      <a:pPr algn="ctr">
                        <a:buNone/>
                      </a:pPr>
                      <a:r>
                        <a:rPr lang="en-US" sz="1100" b="1" dirty="0"/>
                        <a:t>Rule-based system flags: High Debt, Weak Earnings, High Volatility, Unusual Volume, Sector Risk. Each flag reduces overall confidence.</a:t>
                      </a:r>
                    </a:p>
                  </a:txBody>
                  <a:tcPr marL="21469" marR="21469" marT="10734" marB="10734" anchor="ctr"/>
                </a:tc>
                <a:tc>
                  <a:txBody>
                    <a:bodyPr/>
                    <a:lstStyle/>
                    <a:p>
                      <a:pPr algn="ctr">
                        <a:buNone/>
                      </a:pPr>
                      <a:r>
                        <a:rPr lang="en-US" sz="1100" b="1" dirty="0"/>
                        <a:t>Flags = ["High Debt", "Weak Earnings"]</a:t>
                      </a:r>
                    </a:p>
                  </a:txBody>
                  <a:tcPr marL="21469" marR="21469" marT="10734" marB="10734" anchor="ctr"/>
                </a:tc>
                <a:tc>
                  <a:txBody>
                    <a:bodyPr/>
                    <a:lstStyle/>
                    <a:p>
                      <a:pPr algn="ctr">
                        <a:buNone/>
                      </a:pPr>
                      <a:r>
                        <a:rPr lang="en-US" sz="1100" b="1"/>
                        <a:t>“Signals factors that could undermine reliability; reduces overconfidence.”</a:t>
                      </a:r>
                    </a:p>
                  </a:txBody>
                  <a:tcPr marL="21469" marR="21469" marT="10734" marB="10734" anchor="ctr"/>
                </a:tc>
                <a:extLst>
                  <a:ext uri="{0D108BD9-81ED-4DB2-BD59-A6C34878D82A}">
                    <a16:rowId xmlns:a16="http://schemas.microsoft.com/office/drawing/2014/main" val="2235886688"/>
                  </a:ext>
                </a:extLst>
              </a:tr>
              <a:tr h="991855">
                <a:tc>
                  <a:txBody>
                    <a:bodyPr/>
                    <a:lstStyle/>
                    <a:p>
                      <a:pPr algn="ctr">
                        <a:buNone/>
                      </a:pPr>
                      <a:r>
                        <a:rPr lang="en-IN" sz="1100" b="1"/>
                        <a:t>Decision Output</a:t>
                      </a:r>
                    </a:p>
                  </a:txBody>
                  <a:tcPr marL="21469" marR="21469" marT="10734" marB="10734" anchor="ctr"/>
                </a:tc>
                <a:tc>
                  <a:txBody>
                    <a:bodyPr/>
                    <a:lstStyle/>
                    <a:p>
                      <a:pPr algn="ctr">
                        <a:buNone/>
                      </a:pPr>
                      <a:r>
                        <a:rPr lang="en-US" sz="1100" b="1"/>
                        <a:t>Final BUY / HOLD / SELL recommendation</a:t>
                      </a:r>
                    </a:p>
                  </a:txBody>
                  <a:tcPr marL="21469" marR="21469" marT="10734" marB="10734" anchor="ctr"/>
                </a:tc>
                <a:tc>
                  <a:txBody>
                    <a:bodyPr/>
                    <a:lstStyle/>
                    <a:p>
                      <a:pPr algn="ctr">
                        <a:buNone/>
                      </a:pPr>
                      <a:r>
                        <a:rPr lang="en-US" sz="1100" b="1" dirty="0"/>
                        <a:t>Combines Confidence % and Risk Flags using thresholds: &gt;70 → BUY, 40–70 → HOLD, &lt;40 → SELL. Risk flags can adjust borderline cases.</a:t>
                      </a:r>
                    </a:p>
                  </a:txBody>
                  <a:tcPr marL="21469" marR="21469" marT="10734" marB="10734" anchor="ctr"/>
                </a:tc>
                <a:tc>
                  <a:txBody>
                    <a:bodyPr/>
                    <a:lstStyle/>
                    <a:p>
                      <a:pPr algn="ctr">
                        <a:buNone/>
                      </a:pPr>
                      <a:r>
                        <a:rPr lang="en-IN" sz="1100" b="1" dirty="0"/>
                        <a:t>Decision = HOLD</a:t>
                      </a:r>
                    </a:p>
                  </a:txBody>
                  <a:tcPr marL="21469" marR="21469" marT="10734" marB="10734" anchor="ctr"/>
                </a:tc>
                <a:tc>
                  <a:txBody>
                    <a:bodyPr/>
                    <a:lstStyle/>
                    <a:p>
                      <a:pPr algn="ctr">
                        <a:buNone/>
                      </a:pPr>
                      <a:r>
                        <a:rPr lang="en-US" sz="1100" b="1" dirty="0"/>
                        <a:t>“Shows the final recommendation, adjusted for confidence and risk — mirrors human analyst logic.”</a:t>
                      </a:r>
                    </a:p>
                  </a:txBody>
                  <a:tcPr marL="21469" marR="21469" marT="10734" marB="10734" anchor="ctr"/>
                </a:tc>
                <a:extLst>
                  <a:ext uri="{0D108BD9-81ED-4DB2-BD59-A6C34878D82A}">
                    <a16:rowId xmlns:a16="http://schemas.microsoft.com/office/drawing/2014/main" val="3157975293"/>
                  </a:ext>
                </a:extLst>
              </a:tr>
              <a:tr h="991855">
                <a:tc>
                  <a:txBody>
                    <a:bodyPr/>
                    <a:lstStyle/>
                    <a:p>
                      <a:pPr algn="ctr">
                        <a:buNone/>
                      </a:pPr>
                      <a:r>
                        <a:rPr lang="en-IN" sz="1100" b="1"/>
                        <a:t>Purpose / Takeaway</a:t>
                      </a:r>
                    </a:p>
                  </a:txBody>
                  <a:tcPr marL="21469" marR="21469" marT="10734" marB="10734" anchor="ctr"/>
                </a:tc>
                <a:tc>
                  <a:txBody>
                    <a:bodyPr/>
                    <a:lstStyle/>
                    <a:p>
                      <a:pPr algn="ctr">
                        <a:buNone/>
                      </a:pPr>
                      <a:r>
                        <a:rPr lang="en-IN" sz="1100" b="1"/>
                        <a:t>Provides robust, defendable decision-making</a:t>
                      </a:r>
                    </a:p>
                  </a:txBody>
                  <a:tcPr marL="21469" marR="21469" marT="10734" marB="10734" anchor="ctr"/>
                </a:tc>
                <a:tc>
                  <a:txBody>
                    <a:bodyPr/>
                    <a:lstStyle/>
                    <a:p>
                      <a:pPr algn="ctr">
                        <a:buNone/>
                      </a:pPr>
                      <a:r>
                        <a:rPr lang="en-US" sz="1100" b="1"/>
                        <a:t>Transparent scoring + risk-awareness ensures decisions are realistic and actionable.</a:t>
                      </a:r>
                    </a:p>
                  </a:txBody>
                  <a:tcPr marL="21469" marR="21469" marT="10734" marB="10734" anchor="ctr"/>
                </a:tc>
                <a:tc>
                  <a:txBody>
                    <a:bodyPr/>
                    <a:lstStyle/>
                    <a:p>
                      <a:pPr algn="ctr">
                        <a:buNone/>
                      </a:pPr>
                      <a:r>
                        <a:rPr lang="en-IN" sz="1100" b="1" dirty="0"/>
                        <a:t>—</a:t>
                      </a:r>
                    </a:p>
                  </a:txBody>
                  <a:tcPr marL="21469" marR="21469" marT="10734" marB="10734" anchor="ctr"/>
                </a:tc>
                <a:tc>
                  <a:txBody>
                    <a:bodyPr/>
                    <a:lstStyle/>
                    <a:p>
                      <a:pPr algn="ctr">
                        <a:buNone/>
                      </a:pPr>
                      <a:r>
                        <a:rPr lang="en-US" sz="1100" b="1" dirty="0"/>
                        <a:t>“Low confidence doesn’t mean wrong; it means high uncertainty. Together, confidence and risk create maturity in the AI’s recommendation.”</a:t>
                      </a:r>
                    </a:p>
                  </a:txBody>
                  <a:tcPr marL="21469" marR="21469" marT="10734" marB="10734" anchor="ctr"/>
                </a:tc>
                <a:extLst>
                  <a:ext uri="{0D108BD9-81ED-4DB2-BD59-A6C34878D82A}">
                    <a16:rowId xmlns:a16="http://schemas.microsoft.com/office/drawing/2014/main" val="2777022289"/>
                  </a:ext>
                </a:extLst>
              </a:tr>
            </a:tbl>
          </a:graphicData>
        </a:graphic>
      </p:graphicFrame>
    </p:spTree>
    <p:extLst>
      <p:ext uri="{BB962C8B-B14F-4D97-AF65-F5344CB8AC3E}">
        <p14:creationId xmlns:p14="http://schemas.microsoft.com/office/powerpoint/2010/main" val="2893327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EEB28-AAB1-6DC6-AEC7-28ADF1E3FA22}"/>
              </a:ext>
            </a:extLst>
          </p:cNvPr>
          <p:cNvSpPr>
            <a:spLocks noGrp="1"/>
          </p:cNvSpPr>
          <p:nvPr>
            <p:ph type="title"/>
          </p:nvPr>
        </p:nvSpPr>
        <p:spPr>
          <a:xfrm>
            <a:off x="685801" y="121921"/>
            <a:ext cx="10131425" cy="457200"/>
          </a:xfrm>
        </p:spPr>
        <p:txBody>
          <a:bodyPr>
            <a:normAutofit fontScale="90000"/>
          </a:bodyPr>
          <a:lstStyle/>
          <a:p>
            <a:r>
              <a:rPr lang="en-IN" b="1" u="sng" dirty="0"/>
              <a:t>Explanation Agent (LLM Layer)</a:t>
            </a:r>
          </a:p>
        </p:txBody>
      </p:sp>
      <p:graphicFrame>
        <p:nvGraphicFramePr>
          <p:cNvPr id="4" name="Table 3">
            <a:extLst>
              <a:ext uri="{FF2B5EF4-FFF2-40B4-BE49-F238E27FC236}">
                <a16:creationId xmlns:a16="http://schemas.microsoft.com/office/drawing/2014/main" id="{9374E4E4-34D7-2952-B532-BDDDBF2A425B}"/>
              </a:ext>
            </a:extLst>
          </p:cNvPr>
          <p:cNvGraphicFramePr>
            <a:graphicFrameLocks noGrp="1"/>
          </p:cNvGraphicFramePr>
          <p:nvPr>
            <p:extLst>
              <p:ext uri="{D42A27DB-BD31-4B8C-83A1-F6EECF244321}">
                <p14:modId xmlns:p14="http://schemas.microsoft.com/office/powerpoint/2010/main" val="3299128414"/>
              </p:ext>
            </p:extLst>
          </p:nvPr>
        </p:nvGraphicFramePr>
        <p:xfrm>
          <a:off x="243840" y="1105988"/>
          <a:ext cx="11704320" cy="5193761"/>
        </p:xfrm>
        <a:graphic>
          <a:graphicData uri="http://schemas.openxmlformats.org/drawingml/2006/table">
            <a:tbl>
              <a:tblPr>
                <a:tableStyleId>{3C2FFA5D-87B4-456A-9821-1D502468CF0F}</a:tableStyleId>
              </a:tblPr>
              <a:tblGrid>
                <a:gridCol w="2340864">
                  <a:extLst>
                    <a:ext uri="{9D8B030D-6E8A-4147-A177-3AD203B41FA5}">
                      <a16:colId xmlns:a16="http://schemas.microsoft.com/office/drawing/2014/main" val="3783954204"/>
                    </a:ext>
                  </a:extLst>
                </a:gridCol>
                <a:gridCol w="2340864">
                  <a:extLst>
                    <a:ext uri="{9D8B030D-6E8A-4147-A177-3AD203B41FA5}">
                      <a16:colId xmlns:a16="http://schemas.microsoft.com/office/drawing/2014/main" val="3973016180"/>
                    </a:ext>
                  </a:extLst>
                </a:gridCol>
                <a:gridCol w="2340864">
                  <a:extLst>
                    <a:ext uri="{9D8B030D-6E8A-4147-A177-3AD203B41FA5}">
                      <a16:colId xmlns:a16="http://schemas.microsoft.com/office/drawing/2014/main" val="344167793"/>
                    </a:ext>
                  </a:extLst>
                </a:gridCol>
                <a:gridCol w="2340864">
                  <a:extLst>
                    <a:ext uri="{9D8B030D-6E8A-4147-A177-3AD203B41FA5}">
                      <a16:colId xmlns:a16="http://schemas.microsoft.com/office/drawing/2014/main" val="1087938415"/>
                    </a:ext>
                  </a:extLst>
                </a:gridCol>
                <a:gridCol w="2340864">
                  <a:extLst>
                    <a:ext uri="{9D8B030D-6E8A-4147-A177-3AD203B41FA5}">
                      <a16:colId xmlns:a16="http://schemas.microsoft.com/office/drawing/2014/main" val="1572434033"/>
                    </a:ext>
                  </a:extLst>
                </a:gridCol>
              </a:tblGrid>
              <a:tr h="232484">
                <a:tc>
                  <a:txBody>
                    <a:bodyPr/>
                    <a:lstStyle/>
                    <a:p>
                      <a:pPr algn="ctr">
                        <a:buNone/>
                      </a:pPr>
                      <a:r>
                        <a:rPr lang="en-IN" sz="1200" b="1" dirty="0"/>
                        <a:t>Component</a:t>
                      </a:r>
                    </a:p>
                  </a:txBody>
                  <a:tcPr marL="23246" marR="23246" marT="11623" marB="11623" anchor="ctr"/>
                </a:tc>
                <a:tc>
                  <a:txBody>
                    <a:bodyPr/>
                    <a:lstStyle/>
                    <a:p>
                      <a:pPr algn="ctr">
                        <a:buNone/>
                      </a:pPr>
                      <a:r>
                        <a:rPr lang="en-IN" sz="1200" b="1"/>
                        <a:t>Technical Role</a:t>
                      </a:r>
                    </a:p>
                  </a:txBody>
                  <a:tcPr marL="23246" marR="23246" marT="11623" marB="11623" anchor="ctr"/>
                </a:tc>
                <a:tc>
                  <a:txBody>
                    <a:bodyPr/>
                    <a:lstStyle/>
                    <a:p>
                      <a:pPr algn="ctr">
                        <a:buNone/>
                      </a:pPr>
                      <a:r>
                        <a:rPr lang="en-US" sz="1200" b="1"/>
                        <a:t>How It Works in Project</a:t>
                      </a:r>
                    </a:p>
                  </a:txBody>
                  <a:tcPr marL="23246" marR="23246" marT="11623" marB="11623" anchor="ctr"/>
                </a:tc>
                <a:tc>
                  <a:txBody>
                    <a:bodyPr/>
                    <a:lstStyle/>
                    <a:p>
                      <a:pPr algn="ctr">
                        <a:buNone/>
                      </a:pPr>
                      <a:r>
                        <a:rPr lang="en-IN" sz="1200" b="1"/>
                        <a:t>Example / Notes</a:t>
                      </a:r>
                    </a:p>
                  </a:txBody>
                  <a:tcPr marL="23246" marR="23246" marT="11623" marB="11623" anchor="ctr"/>
                </a:tc>
                <a:tc>
                  <a:txBody>
                    <a:bodyPr/>
                    <a:lstStyle/>
                    <a:p>
                      <a:pPr algn="ctr">
                        <a:buNone/>
                      </a:pPr>
                      <a:r>
                        <a:rPr lang="en-IN" sz="1200" b="1"/>
                        <a:t>Talking Points for PPT</a:t>
                      </a:r>
                    </a:p>
                  </a:txBody>
                  <a:tcPr marL="23246" marR="23246" marT="11623" marB="11623" anchor="ctr"/>
                </a:tc>
                <a:extLst>
                  <a:ext uri="{0D108BD9-81ED-4DB2-BD59-A6C34878D82A}">
                    <a16:rowId xmlns:a16="http://schemas.microsoft.com/office/drawing/2014/main" val="2725964547"/>
                  </a:ext>
                </a:extLst>
              </a:tr>
              <a:tr h="1039349">
                <a:tc>
                  <a:txBody>
                    <a:bodyPr/>
                    <a:lstStyle/>
                    <a:p>
                      <a:pPr algn="ctr">
                        <a:buNone/>
                      </a:pPr>
                      <a:r>
                        <a:rPr lang="en-IN" sz="1200" b="1"/>
                        <a:t>LLM Layer</a:t>
                      </a:r>
                    </a:p>
                  </a:txBody>
                  <a:tcPr marL="23246" marR="23246" marT="11623" marB="11623" anchor="ctr"/>
                </a:tc>
                <a:tc>
                  <a:txBody>
                    <a:bodyPr/>
                    <a:lstStyle/>
                    <a:p>
                      <a:pPr algn="ctr">
                        <a:buNone/>
                      </a:pPr>
                      <a:r>
                        <a:rPr lang="en-US" sz="1200" b="1" dirty="0"/>
                        <a:t>Converts structured outputs into human-readable text</a:t>
                      </a:r>
                    </a:p>
                  </a:txBody>
                  <a:tcPr marL="23246" marR="23246" marT="11623" marB="11623" anchor="ctr"/>
                </a:tc>
                <a:tc>
                  <a:txBody>
                    <a:bodyPr/>
                    <a:lstStyle/>
                    <a:p>
                      <a:pPr algn="ctr">
                        <a:buNone/>
                      </a:pPr>
                      <a:r>
                        <a:rPr lang="en-US" sz="1200" b="1"/>
                        <a:t>Takes JSON or structured scores from Fundamentals, Technical, Forecast, Risk Flags → generates natural language explanation.</a:t>
                      </a:r>
                    </a:p>
                  </a:txBody>
                  <a:tcPr marL="23246" marR="23246" marT="11623" marB="11623" anchor="ctr"/>
                </a:tc>
                <a:tc>
                  <a:txBody>
                    <a:bodyPr/>
                    <a:lstStyle/>
                    <a:p>
                      <a:pPr algn="ctr">
                        <a:buNone/>
                      </a:pPr>
                      <a:r>
                        <a:rPr lang="en-US" sz="1200" b="1"/>
                        <a:t>Input JSON: {"fund_score":75, "tech_score":60, "forecast":"UP", "risk":["High Debt"]} → Output text</a:t>
                      </a:r>
                    </a:p>
                  </a:txBody>
                  <a:tcPr marL="23246" marR="23246" marT="11623" marB="11623" anchor="ctr"/>
                </a:tc>
                <a:tc>
                  <a:txBody>
                    <a:bodyPr/>
                    <a:lstStyle/>
                    <a:p>
                      <a:pPr algn="ctr">
                        <a:buNone/>
                      </a:pPr>
                      <a:r>
                        <a:rPr lang="en-US" sz="1200" b="1"/>
                        <a:t>“Translates numeric and technical scores into plain language that anyone can understand.”</a:t>
                      </a:r>
                    </a:p>
                  </a:txBody>
                  <a:tcPr marL="23246" marR="23246" marT="11623" marB="11623" anchor="ctr"/>
                </a:tc>
                <a:extLst>
                  <a:ext uri="{0D108BD9-81ED-4DB2-BD59-A6C34878D82A}">
                    <a16:rowId xmlns:a16="http://schemas.microsoft.com/office/drawing/2014/main" val="4193492868"/>
                  </a:ext>
                </a:extLst>
              </a:tr>
              <a:tr h="1039349">
                <a:tc>
                  <a:txBody>
                    <a:bodyPr/>
                    <a:lstStyle/>
                    <a:p>
                      <a:pPr algn="ctr">
                        <a:buNone/>
                      </a:pPr>
                      <a:r>
                        <a:rPr lang="en-IN" sz="1200" b="1"/>
                        <a:t>Deterministic Templates</a:t>
                      </a:r>
                    </a:p>
                  </a:txBody>
                  <a:tcPr marL="23246" marR="23246" marT="11623" marB="11623" anchor="ctr"/>
                </a:tc>
                <a:tc>
                  <a:txBody>
                    <a:bodyPr/>
                    <a:lstStyle/>
                    <a:p>
                      <a:pPr algn="ctr">
                        <a:buNone/>
                      </a:pPr>
                      <a:r>
                        <a:rPr lang="en-IN" sz="1200" b="1" dirty="0"/>
                        <a:t>Ensures consistent outputs</a:t>
                      </a:r>
                    </a:p>
                  </a:txBody>
                  <a:tcPr marL="23246" marR="23246" marT="11623" marB="11623" anchor="ctr"/>
                </a:tc>
                <a:tc>
                  <a:txBody>
                    <a:bodyPr/>
                    <a:lstStyle/>
                    <a:p>
                      <a:pPr algn="ctr">
                        <a:buNone/>
                      </a:pPr>
                      <a:r>
                        <a:rPr lang="en-US" sz="1200" b="1"/>
                        <a:t>Uses structured prompts + fixed template sentences. Same input → same explanation.</a:t>
                      </a:r>
                    </a:p>
                  </a:txBody>
                  <a:tcPr marL="23246" marR="23246" marT="11623" marB="11623" anchor="ctr"/>
                </a:tc>
                <a:tc>
                  <a:txBody>
                    <a:bodyPr/>
                    <a:lstStyle/>
                    <a:p>
                      <a:pPr algn="ctr">
                        <a:buNone/>
                      </a:pPr>
                      <a:r>
                        <a:rPr lang="en-IN" sz="1200" b="1"/>
                        <a:t>Template example: “The stock is {direction}. Fundamentals: {fund_score}. Technical: {tech_score}. Risks: {risk_flags}.”</a:t>
                      </a:r>
                    </a:p>
                  </a:txBody>
                  <a:tcPr marL="23246" marR="23246" marT="11623" marB="11623" anchor="ctr"/>
                </a:tc>
                <a:tc>
                  <a:txBody>
                    <a:bodyPr/>
                    <a:lstStyle/>
                    <a:p>
                      <a:pPr algn="ctr">
                        <a:buNone/>
                      </a:pPr>
                      <a:r>
                        <a:rPr lang="en-US" sz="1200" b="1" dirty="0"/>
                        <a:t>“Keeps explanations repeatable and reliable for stakeholders.”</a:t>
                      </a:r>
                    </a:p>
                  </a:txBody>
                  <a:tcPr marL="23246" marR="23246" marT="11623" marB="11623" anchor="ctr"/>
                </a:tc>
                <a:extLst>
                  <a:ext uri="{0D108BD9-81ED-4DB2-BD59-A6C34878D82A}">
                    <a16:rowId xmlns:a16="http://schemas.microsoft.com/office/drawing/2014/main" val="1919305110"/>
                  </a:ext>
                </a:extLst>
              </a:tr>
              <a:tr h="1039349">
                <a:tc>
                  <a:txBody>
                    <a:bodyPr/>
                    <a:lstStyle/>
                    <a:p>
                      <a:pPr algn="ctr">
                        <a:buNone/>
                      </a:pPr>
                      <a:r>
                        <a:rPr lang="en-IN" sz="1200" b="1"/>
                        <a:t>Layman Translation Layer</a:t>
                      </a:r>
                    </a:p>
                  </a:txBody>
                  <a:tcPr marL="23246" marR="23246" marT="11623" marB="11623" anchor="ctr"/>
                </a:tc>
                <a:tc>
                  <a:txBody>
                    <a:bodyPr/>
                    <a:lstStyle/>
                    <a:p>
                      <a:pPr algn="ctr">
                        <a:buNone/>
                      </a:pPr>
                      <a:r>
                        <a:rPr lang="en-US" sz="1200" b="1"/>
                        <a:t>Converts complex metrics into understandable language</a:t>
                      </a:r>
                    </a:p>
                  </a:txBody>
                  <a:tcPr marL="23246" marR="23246" marT="11623" marB="11623" anchor="ctr"/>
                </a:tc>
                <a:tc>
                  <a:txBody>
                    <a:bodyPr/>
                    <a:lstStyle/>
                    <a:p>
                      <a:pPr algn="ctr">
                        <a:buNone/>
                      </a:pPr>
                      <a:r>
                        <a:rPr lang="en-US" sz="1200" b="1"/>
                        <a:t>Technical metrics → human-friendly statements (e.g., ROE = “efficient use of shareholder money”). RSI → “stock may be overbought/oversold”).</a:t>
                      </a:r>
                    </a:p>
                  </a:txBody>
                  <a:tcPr marL="23246" marR="23246" marT="11623" marB="11623" anchor="ctr"/>
                </a:tc>
                <a:tc>
                  <a:txBody>
                    <a:bodyPr/>
                    <a:lstStyle/>
                    <a:p>
                      <a:pPr algn="ctr">
                        <a:buNone/>
                      </a:pPr>
                      <a:r>
                        <a:rPr lang="en-US" sz="1200" b="1" dirty="0"/>
                        <a:t>“High ROE → company uses capital efficiently”</a:t>
                      </a:r>
                    </a:p>
                  </a:txBody>
                  <a:tcPr marL="23246" marR="23246" marT="11623" marB="11623" anchor="ctr"/>
                </a:tc>
                <a:tc>
                  <a:txBody>
                    <a:bodyPr/>
                    <a:lstStyle/>
                    <a:p>
                      <a:pPr algn="ctr">
                        <a:buNone/>
                      </a:pPr>
                      <a:r>
                        <a:rPr lang="en-US" sz="1200" b="1"/>
                        <a:t>“Helps non-quant users understand reasoning without needing financial expertise.”</a:t>
                      </a:r>
                    </a:p>
                  </a:txBody>
                  <a:tcPr marL="23246" marR="23246" marT="11623" marB="11623" anchor="ctr"/>
                </a:tc>
                <a:extLst>
                  <a:ext uri="{0D108BD9-81ED-4DB2-BD59-A6C34878D82A}">
                    <a16:rowId xmlns:a16="http://schemas.microsoft.com/office/drawing/2014/main" val="3885335241"/>
                  </a:ext>
                </a:extLst>
              </a:tr>
              <a:tr h="1005596">
                <a:tc>
                  <a:txBody>
                    <a:bodyPr/>
                    <a:lstStyle/>
                    <a:p>
                      <a:pPr algn="ctr">
                        <a:buNone/>
                      </a:pPr>
                      <a:r>
                        <a:rPr lang="en-IN" sz="1200" b="1"/>
                        <a:t>Integration with Decision Agent</a:t>
                      </a:r>
                    </a:p>
                  </a:txBody>
                  <a:tcPr marL="23246" marR="23246" marT="11623" marB="11623" anchor="ctr"/>
                </a:tc>
                <a:tc>
                  <a:txBody>
                    <a:bodyPr/>
                    <a:lstStyle/>
                    <a:p>
                      <a:pPr algn="ctr">
                        <a:buNone/>
                      </a:pPr>
                      <a:r>
                        <a:rPr lang="en-US" sz="1200" b="1"/>
                        <a:t>Receives outputs from decision agent and enhances transparency</a:t>
                      </a:r>
                    </a:p>
                  </a:txBody>
                  <a:tcPr marL="23246" marR="23246" marT="11623" marB="11623" anchor="ctr"/>
                </a:tc>
                <a:tc>
                  <a:txBody>
                    <a:bodyPr/>
                    <a:lstStyle/>
                    <a:p>
                      <a:pPr algn="ctr">
                        <a:buNone/>
                      </a:pPr>
                      <a:r>
                        <a:rPr lang="en-US" sz="1200" b="1"/>
                        <a:t>Takes decision + confidence + risk → produces explanation. Ensures every recommendation is defensible.</a:t>
                      </a:r>
                    </a:p>
                  </a:txBody>
                  <a:tcPr marL="23246" marR="23246" marT="11623" marB="11623" anchor="ctr"/>
                </a:tc>
                <a:tc>
                  <a:txBody>
                    <a:bodyPr/>
                    <a:lstStyle/>
                    <a:p>
                      <a:pPr algn="ctr">
                        <a:buNone/>
                      </a:pPr>
                      <a:r>
                        <a:rPr lang="en-US" sz="1200" b="1" dirty="0"/>
                        <a:t>Decision = HOLD → LLM generates “The stock is HOLD because fundamentals are moderate, technical trend is neutral, but high debt is a risk.”</a:t>
                      </a:r>
                    </a:p>
                  </a:txBody>
                  <a:tcPr marL="23246" marR="23246" marT="11623" marB="11623" anchor="ctr"/>
                </a:tc>
                <a:tc>
                  <a:txBody>
                    <a:bodyPr/>
                    <a:lstStyle/>
                    <a:p>
                      <a:pPr algn="ctr">
                        <a:buNone/>
                      </a:pPr>
                      <a:r>
                        <a:rPr lang="en-US" sz="1200" b="1" dirty="0"/>
                        <a:t>“Explains WHY the AI recommends BUY/HOLD/SELL, giving credibility to the system.”</a:t>
                      </a:r>
                    </a:p>
                  </a:txBody>
                  <a:tcPr marL="23246" marR="23246" marT="11623" marB="11623" anchor="ctr"/>
                </a:tc>
                <a:extLst>
                  <a:ext uri="{0D108BD9-81ED-4DB2-BD59-A6C34878D82A}">
                    <a16:rowId xmlns:a16="http://schemas.microsoft.com/office/drawing/2014/main" val="3963126785"/>
                  </a:ext>
                </a:extLst>
              </a:tr>
              <a:tr h="837634">
                <a:tc>
                  <a:txBody>
                    <a:bodyPr/>
                    <a:lstStyle/>
                    <a:p>
                      <a:pPr algn="ctr">
                        <a:buNone/>
                      </a:pPr>
                      <a:r>
                        <a:rPr lang="en-IN" sz="1200" b="1"/>
                        <a:t>Purpose / Takeaway</a:t>
                      </a:r>
                    </a:p>
                  </a:txBody>
                  <a:tcPr marL="23246" marR="23246" marT="11623" marB="11623" anchor="ctr"/>
                </a:tc>
                <a:tc>
                  <a:txBody>
                    <a:bodyPr/>
                    <a:lstStyle/>
                    <a:p>
                      <a:pPr algn="ctr">
                        <a:buNone/>
                      </a:pPr>
                      <a:r>
                        <a:rPr lang="en-US" sz="1200" b="1"/>
                        <a:t>Makes AI outputs trustworthy, clear, and non-hallucinated</a:t>
                      </a:r>
                    </a:p>
                  </a:txBody>
                  <a:tcPr marL="23246" marR="23246" marT="11623" marB="11623" anchor="ctr"/>
                </a:tc>
                <a:tc>
                  <a:txBody>
                    <a:bodyPr/>
                    <a:lstStyle/>
                    <a:p>
                      <a:pPr algn="ctr">
                        <a:buNone/>
                      </a:pPr>
                      <a:r>
                        <a:rPr lang="en-US" sz="1200" b="1"/>
                        <a:t>Bridges gap between technical scores and human comprehension. Prevents over-reliance on raw numbers.</a:t>
                      </a:r>
                    </a:p>
                  </a:txBody>
                  <a:tcPr marL="23246" marR="23246" marT="11623" marB="11623" anchor="ctr"/>
                </a:tc>
                <a:tc>
                  <a:txBody>
                    <a:bodyPr/>
                    <a:lstStyle/>
                    <a:p>
                      <a:pPr algn="ctr">
                        <a:buNone/>
                      </a:pPr>
                      <a:r>
                        <a:rPr lang="en-IN" sz="1200" b="1"/>
                        <a:t>—</a:t>
                      </a:r>
                    </a:p>
                  </a:txBody>
                  <a:tcPr marL="23246" marR="23246" marT="11623" marB="11623" anchor="ctr"/>
                </a:tc>
                <a:tc>
                  <a:txBody>
                    <a:bodyPr/>
                    <a:lstStyle/>
                    <a:p>
                      <a:pPr algn="ctr">
                        <a:buNone/>
                      </a:pPr>
                      <a:r>
                        <a:rPr lang="en-US" sz="1200" b="1" dirty="0"/>
                        <a:t>“LLM provides explainable insights, not predictions. Deterministic + structured = trustworthy.”</a:t>
                      </a:r>
                    </a:p>
                  </a:txBody>
                  <a:tcPr marL="23246" marR="23246" marT="11623" marB="11623" anchor="ctr"/>
                </a:tc>
                <a:extLst>
                  <a:ext uri="{0D108BD9-81ED-4DB2-BD59-A6C34878D82A}">
                    <a16:rowId xmlns:a16="http://schemas.microsoft.com/office/drawing/2014/main" val="1436808856"/>
                  </a:ext>
                </a:extLst>
              </a:tr>
            </a:tbl>
          </a:graphicData>
        </a:graphic>
      </p:graphicFrame>
    </p:spTree>
    <p:extLst>
      <p:ext uri="{BB962C8B-B14F-4D97-AF65-F5344CB8AC3E}">
        <p14:creationId xmlns:p14="http://schemas.microsoft.com/office/powerpoint/2010/main" val="341208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232EC-F3BA-C403-FA04-21FBB0140593}"/>
              </a:ext>
            </a:extLst>
          </p:cNvPr>
          <p:cNvSpPr>
            <a:spLocks noGrp="1"/>
          </p:cNvSpPr>
          <p:nvPr>
            <p:ph type="title"/>
          </p:nvPr>
        </p:nvSpPr>
        <p:spPr>
          <a:xfrm>
            <a:off x="685801" y="213709"/>
            <a:ext cx="10131425" cy="472198"/>
          </a:xfrm>
        </p:spPr>
        <p:txBody>
          <a:bodyPr>
            <a:normAutofit fontScale="90000"/>
          </a:bodyPr>
          <a:lstStyle/>
          <a:p>
            <a:r>
              <a:rPr lang="en-US" b="1" u="sng" dirty="0"/>
              <a:t>Core Functions of LLM Layer</a:t>
            </a:r>
            <a:endParaRPr lang="en-IN" b="1" u="sng" dirty="0"/>
          </a:p>
        </p:txBody>
      </p:sp>
      <p:sp>
        <p:nvSpPr>
          <p:cNvPr id="5" name="Rectangle 2">
            <a:extLst>
              <a:ext uri="{FF2B5EF4-FFF2-40B4-BE49-F238E27FC236}">
                <a16:creationId xmlns:a16="http://schemas.microsoft.com/office/drawing/2014/main" id="{124E116E-CD2E-1D56-A4A2-DB331AFDEFEB}"/>
              </a:ext>
            </a:extLst>
          </p:cNvPr>
          <p:cNvSpPr>
            <a:spLocks noGrp="1" noChangeArrowheads="1"/>
          </p:cNvSpPr>
          <p:nvPr>
            <p:ph idx="1"/>
          </p:nvPr>
        </p:nvSpPr>
        <p:spPr bwMode="auto">
          <a:xfrm>
            <a:off x="685801" y="1288979"/>
            <a:ext cx="10872215"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sng" strike="noStrike" cap="none" normalizeH="0" baseline="0" dirty="0">
                <a:ln>
                  <a:noFill/>
                </a:ln>
                <a:solidFill>
                  <a:schemeClr val="tx1"/>
                </a:solidFill>
                <a:effectLst/>
                <a:latin typeface="Arial" panose="020B0604020202020204" pitchFamily="34" charset="0"/>
              </a:rPr>
              <a:t>Structured Input Interpretation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sng"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Inputs: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Fundamental scores (e.g., ROE, Debt/Equity, Free Cash Flow)</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Technical scores (RSI, MACD, Bollinger, moving averages)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Forecast direction (ensemble of ARIMA + XG Boost + LSTM)</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Risk flags (high volatility, unusual trading activity, weak earnings)</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LLM maps </a:t>
            </a:r>
            <a:r>
              <a:rPr kumimoji="0" lang="en-US" altLang="en-US" sz="1800" b="1" i="0" u="none" strike="noStrike" cap="none" normalizeH="0" baseline="0" dirty="0">
                <a:ln>
                  <a:noFill/>
                </a:ln>
                <a:solidFill>
                  <a:schemeClr val="tx1"/>
                </a:solidFill>
                <a:effectLst/>
                <a:latin typeface="Arial" panose="020B0604020202020204" pitchFamily="34" charset="0"/>
              </a:rPr>
              <a:t>numeric and categorical data → layman text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sng" strike="noStrike" cap="none" normalizeH="0" baseline="0" dirty="0">
                <a:ln>
                  <a:noFill/>
                </a:ln>
                <a:solidFill>
                  <a:schemeClr val="tx1"/>
                </a:solidFill>
                <a:effectLst/>
                <a:latin typeface="Arial" panose="020B0604020202020204" pitchFamily="34" charset="0"/>
              </a:rPr>
              <a:t>Deterministic Explanation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sng"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Unlike free-form LLMs, outputs are </a:t>
            </a:r>
            <a:r>
              <a:rPr kumimoji="0" lang="en-US" altLang="en-US" sz="1800" b="1" i="0" u="none" strike="noStrike" cap="none" normalizeH="0" baseline="0" dirty="0">
                <a:ln>
                  <a:noFill/>
                </a:ln>
                <a:solidFill>
                  <a:schemeClr val="tx1"/>
                </a:solidFill>
                <a:effectLst/>
                <a:latin typeface="Arial" panose="020B0604020202020204" pitchFamily="34" charset="0"/>
              </a:rPr>
              <a:t>controlled</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Pre-defined templates prevent hallucination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Example template: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stock shows a moderate buy signal because fundamentals are strong (ROE 22%, low debt), technical indicators suggest upward momentum (RSI 60, MACD positive), and ensemble forecast predicts 5–7% growth next month. Risk is medium due to high market volatility.”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93143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B891B-B8AD-53EE-D9C4-82EB0ED7A0F9}"/>
              </a:ext>
            </a:extLst>
          </p:cNvPr>
          <p:cNvSpPr>
            <a:spLocks noGrp="1"/>
          </p:cNvSpPr>
          <p:nvPr>
            <p:ph type="title"/>
          </p:nvPr>
        </p:nvSpPr>
        <p:spPr>
          <a:xfrm>
            <a:off x="505097" y="444138"/>
            <a:ext cx="10131425" cy="457200"/>
          </a:xfrm>
        </p:spPr>
        <p:txBody>
          <a:bodyPr>
            <a:normAutofit fontScale="90000"/>
          </a:bodyPr>
          <a:lstStyle/>
          <a:p>
            <a:r>
              <a:rPr lang="en-US" b="1" u="sng" dirty="0"/>
              <a:t>Core Functions of LLM Layer</a:t>
            </a:r>
            <a:endParaRPr lang="en-IN" dirty="0"/>
          </a:p>
        </p:txBody>
      </p:sp>
      <p:sp>
        <p:nvSpPr>
          <p:cNvPr id="4" name="Rectangle 1">
            <a:extLst>
              <a:ext uri="{FF2B5EF4-FFF2-40B4-BE49-F238E27FC236}">
                <a16:creationId xmlns:a16="http://schemas.microsoft.com/office/drawing/2014/main" id="{215F5AF4-0AE8-C2AA-5674-741424E78012}"/>
              </a:ext>
            </a:extLst>
          </p:cNvPr>
          <p:cNvSpPr>
            <a:spLocks noGrp="1" noChangeArrowheads="1"/>
          </p:cNvSpPr>
          <p:nvPr>
            <p:ph idx="1"/>
          </p:nvPr>
        </p:nvSpPr>
        <p:spPr bwMode="auto">
          <a:xfrm>
            <a:off x="505097" y="1069479"/>
            <a:ext cx="11155680" cy="4570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100" b="1" i="0" u="sng" strike="noStrike" cap="none" normalizeH="0" baseline="0" dirty="0">
                <a:ln>
                  <a:noFill/>
                </a:ln>
                <a:solidFill>
                  <a:schemeClr val="tx1"/>
                </a:solidFill>
                <a:effectLst/>
                <a:latin typeface="Arial" panose="020B0604020202020204" pitchFamily="34" charset="0"/>
              </a:rPr>
              <a:t>Contextualization for Users</a:t>
            </a:r>
            <a:endParaRPr kumimoji="0" lang="en-US" altLang="en-US" sz="2100" b="0" i="0" u="sng"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 Explains complex metrics in </a:t>
            </a:r>
            <a:r>
              <a:rPr kumimoji="0" lang="en-US" altLang="en-US" sz="2100" b="1" i="0" u="none" strike="noStrike" cap="none" normalizeH="0" baseline="0" dirty="0">
                <a:ln>
                  <a:noFill/>
                </a:ln>
                <a:solidFill>
                  <a:schemeClr val="tx1"/>
                </a:solidFill>
                <a:effectLst/>
                <a:latin typeface="Arial" panose="020B0604020202020204" pitchFamily="34" charset="0"/>
              </a:rPr>
              <a:t>investor-friendly language</a:t>
            </a: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 Converts </a:t>
            </a:r>
            <a:r>
              <a:rPr kumimoji="0" lang="en-US" altLang="en-US" sz="2100" b="1" i="0" u="none" strike="noStrike" cap="none" normalizeH="0" baseline="0" dirty="0">
                <a:ln>
                  <a:noFill/>
                </a:ln>
                <a:solidFill>
                  <a:schemeClr val="tx1"/>
                </a:solidFill>
                <a:effectLst/>
                <a:latin typeface="Arial" panose="020B0604020202020204" pitchFamily="34" charset="0"/>
              </a:rPr>
              <a:t>raw signals → actionable insight</a:t>
            </a: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 Example: High ROE → “Company efficiently uses shareholder money”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 Example: RSI &gt; 70 → “Stock may be overbought in the short term”</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1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100" b="1" i="0" u="sng" strike="noStrike" cap="none" normalizeH="0" baseline="0" dirty="0">
                <a:ln>
                  <a:noFill/>
                </a:ln>
                <a:solidFill>
                  <a:schemeClr val="tx1"/>
                </a:solidFill>
                <a:effectLst/>
                <a:latin typeface="Arial" panose="020B0604020202020204" pitchFamily="34" charset="0"/>
              </a:rPr>
              <a:t>Confidence &amp; Risk Integration</a:t>
            </a:r>
            <a:endParaRPr kumimoji="0" lang="en-US" altLang="en-US" sz="2100" b="0" i="0" u="sng"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Incorporates </a:t>
            </a:r>
            <a:r>
              <a:rPr kumimoji="0" lang="en-US" altLang="en-US" sz="2100" b="1" i="0" u="none" strike="noStrike" cap="none" normalizeH="0" baseline="0" dirty="0">
                <a:ln>
                  <a:noFill/>
                </a:ln>
                <a:solidFill>
                  <a:schemeClr val="tx1"/>
                </a:solidFill>
                <a:effectLst/>
                <a:latin typeface="Arial" panose="020B0604020202020204" pitchFamily="34" charset="0"/>
              </a:rPr>
              <a:t>Decision Agent confidence %</a:t>
            </a:r>
            <a:r>
              <a:rPr kumimoji="0" lang="en-US" altLang="en-US" sz="2100" b="0" i="0" u="none" strike="noStrike" cap="none" normalizeH="0" baseline="0" dirty="0">
                <a:ln>
                  <a:noFill/>
                </a:ln>
                <a:solidFill>
                  <a:schemeClr val="tx1"/>
                </a:solidFill>
                <a:effectLst/>
                <a:latin typeface="Arial" panose="020B0604020202020204" pitchFamily="34" charset="0"/>
              </a:rPr>
              <a:t> into explanation.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100" b="0" i="0" u="none" strike="noStrike" cap="none" normalizeH="0" baseline="0" dirty="0">
                <a:ln>
                  <a:noFill/>
                </a:ln>
                <a:solidFill>
                  <a:schemeClr val="tx1"/>
                </a:solidFill>
                <a:effectLst/>
                <a:latin typeface="Arial" panose="020B0604020202020204" pitchFamily="34" charset="0"/>
              </a:rPr>
              <a:t>Mentions </a:t>
            </a:r>
            <a:r>
              <a:rPr kumimoji="0" lang="en-US" altLang="en-US" sz="2100" b="1" i="0" u="none" strike="noStrike" cap="none" normalizeH="0" baseline="0" dirty="0">
                <a:ln>
                  <a:noFill/>
                </a:ln>
                <a:solidFill>
                  <a:schemeClr val="tx1"/>
                </a:solidFill>
                <a:effectLst/>
                <a:latin typeface="Arial" panose="020B0604020202020204" pitchFamily="34" charset="0"/>
              </a:rPr>
              <a:t>risk flags</a:t>
            </a:r>
            <a:r>
              <a:rPr kumimoji="0" lang="en-US" altLang="en-US" sz="2100" b="0" i="0" u="none" strike="noStrike" cap="none" normalizeH="0" baseline="0" dirty="0">
                <a:ln>
                  <a:noFill/>
                </a:ln>
                <a:solidFill>
                  <a:schemeClr val="tx1"/>
                </a:solidFill>
                <a:effectLst/>
                <a:latin typeface="Arial" panose="020B0604020202020204" pitchFamily="34" charset="0"/>
              </a:rPr>
              <a:t> explicitly: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“Confidence low due to earnings uncertainty”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“Risk flag: High debt may impact future performance”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9281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64D2F-7A06-0AD0-2B04-6C6EFB23C10C}"/>
              </a:ext>
            </a:extLst>
          </p:cNvPr>
          <p:cNvSpPr>
            <a:spLocks noGrp="1"/>
          </p:cNvSpPr>
          <p:nvPr>
            <p:ph type="title"/>
          </p:nvPr>
        </p:nvSpPr>
        <p:spPr>
          <a:xfrm>
            <a:off x="685800" y="1201782"/>
            <a:ext cx="10131425" cy="402530"/>
          </a:xfrm>
        </p:spPr>
        <p:txBody>
          <a:bodyPr>
            <a:normAutofit fontScale="90000"/>
          </a:bodyPr>
          <a:lstStyle/>
          <a:p>
            <a:r>
              <a:rPr lang="en-US" b="1" u="sng" dirty="0"/>
              <a:t>Core Functions of LLM Layer</a:t>
            </a:r>
            <a:endParaRPr lang="en-IN" dirty="0"/>
          </a:p>
        </p:txBody>
      </p:sp>
      <p:sp>
        <p:nvSpPr>
          <p:cNvPr id="3" name="Content Placeholder 2">
            <a:extLst>
              <a:ext uri="{FF2B5EF4-FFF2-40B4-BE49-F238E27FC236}">
                <a16:creationId xmlns:a16="http://schemas.microsoft.com/office/drawing/2014/main" id="{7C82685A-8C6B-5A01-F171-502CABCE0D67}"/>
              </a:ext>
            </a:extLst>
          </p:cNvPr>
          <p:cNvSpPr>
            <a:spLocks noGrp="1"/>
          </p:cNvSpPr>
          <p:nvPr>
            <p:ph idx="1"/>
          </p:nvPr>
        </p:nvSpPr>
        <p:spPr/>
        <p:txBody>
          <a:bodyPr/>
          <a:lstStyle/>
          <a:p>
            <a:pPr marL="0" indent="0">
              <a:buNone/>
            </a:pPr>
            <a:r>
              <a:rPr lang="en-US" sz="2000" b="1" u="sng" dirty="0"/>
              <a:t>Template + LLM Hybrid Approach</a:t>
            </a:r>
          </a:p>
          <a:p>
            <a:pPr lvl="1"/>
            <a:r>
              <a:rPr lang="en-US" sz="2000" b="1" dirty="0"/>
              <a:t>Templates</a:t>
            </a:r>
            <a:r>
              <a:rPr lang="en-US" sz="2000" dirty="0"/>
              <a:t> ensure deterministic output (no hallucination)</a:t>
            </a:r>
          </a:p>
          <a:p>
            <a:pPr lvl="1"/>
            <a:r>
              <a:rPr lang="en-US" sz="2000" b="1" dirty="0"/>
              <a:t>LLM fills in language and readability</a:t>
            </a:r>
            <a:endParaRPr lang="en-US" sz="2000" dirty="0"/>
          </a:p>
          <a:p>
            <a:pPr lvl="1"/>
            <a:r>
              <a:rPr lang="en-US" sz="2000" dirty="0"/>
              <a:t>Maintains </a:t>
            </a:r>
            <a:r>
              <a:rPr lang="en-US" sz="2000" b="1" dirty="0"/>
              <a:t>consistency across multiple stocks</a:t>
            </a:r>
          </a:p>
          <a:p>
            <a:pPr marL="457200" lvl="1" indent="0">
              <a:buNone/>
            </a:pPr>
            <a:endParaRPr lang="en-US" sz="2000" dirty="0"/>
          </a:p>
          <a:p>
            <a:pPr marL="0" indent="0">
              <a:buNone/>
            </a:pPr>
            <a:r>
              <a:rPr lang="en-US" sz="2000" b="1" u="sng" dirty="0"/>
              <a:t>Scalability &amp; Extensibility</a:t>
            </a:r>
            <a:endParaRPr lang="en-US" sz="2000" u="sng" dirty="0"/>
          </a:p>
          <a:p>
            <a:pPr lvl="1"/>
            <a:r>
              <a:rPr lang="en-US" sz="2000" dirty="0"/>
              <a:t>Can handle </a:t>
            </a:r>
            <a:r>
              <a:rPr lang="en-US" sz="2000" b="1" dirty="0"/>
              <a:t>new stocks</a:t>
            </a:r>
            <a:r>
              <a:rPr lang="en-US" sz="2000" dirty="0"/>
              <a:t>, new </a:t>
            </a:r>
            <a:r>
              <a:rPr lang="en-US" sz="2000" b="1" dirty="0"/>
              <a:t>indicators</a:t>
            </a:r>
            <a:r>
              <a:rPr lang="en-US" sz="2000" dirty="0"/>
              <a:t>, and </a:t>
            </a:r>
            <a:r>
              <a:rPr lang="en-US" sz="2000" b="1" dirty="0"/>
              <a:t>expanded forecasting models</a:t>
            </a:r>
            <a:endParaRPr lang="en-US" sz="2000" dirty="0"/>
          </a:p>
          <a:p>
            <a:pPr lvl="1"/>
            <a:r>
              <a:rPr lang="en-US" sz="2000" dirty="0"/>
              <a:t>Modular design allows </a:t>
            </a:r>
            <a:r>
              <a:rPr lang="en-US" sz="2000" b="1" dirty="0"/>
              <a:t>upgrading to larger LLMs</a:t>
            </a:r>
            <a:r>
              <a:rPr lang="en-US" sz="2000" dirty="0"/>
              <a:t> without retraining core models</a:t>
            </a:r>
          </a:p>
          <a:p>
            <a:endParaRPr lang="en-IN" dirty="0"/>
          </a:p>
        </p:txBody>
      </p:sp>
    </p:spTree>
    <p:extLst>
      <p:ext uri="{BB962C8B-B14F-4D97-AF65-F5344CB8AC3E}">
        <p14:creationId xmlns:p14="http://schemas.microsoft.com/office/powerpoint/2010/main" val="502717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9D7E4-DD53-49AD-BB55-D40763AF77EB}"/>
              </a:ext>
            </a:extLst>
          </p:cNvPr>
          <p:cNvSpPr>
            <a:spLocks noGrp="1"/>
          </p:cNvSpPr>
          <p:nvPr>
            <p:ph type="title"/>
          </p:nvPr>
        </p:nvSpPr>
        <p:spPr>
          <a:xfrm>
            <a:off x="0" y="237542"/>
            <a:ext cx="10131425" cy="457200"/>
          </a:xfrm>
        </p:spPr>
        <p:txBody>
          <a:bodyPr>
            <a:normAutofit fontScale="90000"/>
          </a:bodyPr>
          <a:lstStyle/>
          <a:p>
            <a:r>
              <a:rPr lang="en-IN" b="1" u="sng" dirty="0"/>
              <a:t>OUTPUT SNIPPETS (FRONTEND/UI)</a:t>
            </a:r>
          </a:p>
        </p:txBody>
      </p:sp>
      <p:pic>
        <p:nvPicPr>
          <p:cNvPr id="5" name="Picture 4">
            <a:extLst>
              <a:ext uri="{FF2B5EF4-FFF2-40B4-BE49-F238E27FC236}">
                <a16:creationId xmlns:a16="http://schemas.microsoft.com/office/drawing/2014/main" id="{249DB4CA-3575-78B7-336A-6485F260BF40}"/>
              </a:ext>
            </a:extLst>
          </p:cNvPr>
          <p:cNvPicPr>
            <a:picLocks noChangeAspect="1"/>
          </p:cNvPicPr>
          <p:nvPr/>
        </p:nvPicPr>
        <p:blipFill>
          <a:blip r:embed="rId2"/>
          <a:stretch>
            <a:fillRect/>
          </a:stretch>
        </p:blipFill>
        <p:spPr>
          <a:xfrm>
            <a:off x="436210" y="1160638"/>
            <a:ext cx="3238169" cy="1991585"/>
          </a:xfrm>
          <a:prstGeom prst="rect">
            <a:avLst/>
          </a:prstGeom>
        </p:spPr>
      </p:pic>
      <p:pic>
        <p:nvPicPr>
          <p:cNvPr id="7" name="Picture 6">
            <a:extLst>
              <a:ext uri="{FF2B5EF4-FFF2-40B4-BE49-F238E27FC236}">
                <a16:creationId xmlns:a16="http://schemas.microsoft.com/office/drawing/2014/main" id="{008D1562-29D7-6D09-0DD0-D8DCF6E32830}"/>
              </a:ext>
            </a:extLst>
          </p:cNvPr>
          <p:cNvPicPr>
            <a:picLocks noChangeAspect="1"/>
          </p:cNvPicPr>
          <p:nvPr/>
        </p:nvPicPr>
        <p:blipFill>
          <a:blip r:embed="rId3"/>
          <a:stretch>
            <a:fillRect/>
          </a:stretch>
        </p:blipFill>
        <p:spPr>
          <a:xfrm>
            <a:off x="6832766" y="3618119"/>
            <a:ext cx="4671485" cy="3131023"/>
          </a:xfrm>
          <a:prstGeom prst="rect">
            <a:avLst/>
          </a:prstGeom>
        </p:spPr>
      </p:pic>
      <p:pic>
        <p:nvPicPr>
          <p:cNvPr id="9" name="Picture 8">
            <a:extLst>
              <a:ext uri="{FF2B5EF4-FFF2-40B4-BE49-F238E27FC236}">
                <a16:creationId xmlns:a16="http://schemas.microsoft.com/office/drawing/2014/main" id="{D1C3D29B-DEE6-C93C-EA00-BBA25E734503}"/>
              </a:ext>
            </a:extLst>
          </p:cNvPr>
          <p:cNvPicPr>
            <a:picLocks noChangeAspect="1"/>
          </p:cNvPicPr>
          <p:nvPr/>
        </p:nvPicPr>
        <p:blipFill>
          <a:blip r:embed="rId4"/>
          <a:stretch>
            <a:fillRect/>
          </a:stretch>
        </p:blipFill>
        <p:spPr>
          <a:xfrm>
            <a:off x="1842457" y="3618119"/>
            <a:ext cx="4584378" cy="3131023"/>
          </a:xfrm>
          <a:prstGeom prst="rect">
            <a:avLst/>
          </a:prstGeom>
        </p:spPr>
      </p:pic>
      <p:pic>
        <p:nvPicPr>
          <p:cNvPr id="11" name="Picture 10">
            <a:extLst>
              <a:ext uri="{FF2B5EF4-FFF2-40B4-BE49-F238E27FC236}">
                <a16:creationId xmlns:a16="http://schemas.microsoft.com/office/drawing/2014/main" id="{9E90C2EB-573E-EA0C-EC8B-8DA1A9B6D1BF}"/>
              </a:ext>
            </a:extLst>
          </p:cNvPr>
          <p:cNvPicPr>
            <a:picLocks noChangeAspect="1"/>
          </p:cNvPicPr>
          <p:nvPr/>
        </p:nvPicPr>
        <p:blipFill>
          <a:blip r:embed="rId5"/>
          <a:srcRect l="7667" t="2475" r="7676"/>
          <a:stretch>
            <a:fillRect/>
          </a:stretch>
        </p:blipFill>
        <p:spPr>
          <a:xfrm>
            <a:off x="6307182" y="383177"/>
            <a:ext cx="5197069" cy="3200399"/>
          </a:xfrm>
          <a:prstGeom prst="rect">
            <a:avLst/>
          </a:prstGeom>
        </p:spPr>
      </p:pic>
      <p:pic>
        <p:nvPicPr>
          <p:cNvPr id="13" name="Picture 12">
            <a:extLst>
              <a:ext uri="{FF2B5EF4-FFF2-40B4-BE49-F238E27FC236}">
                <a16:creationId xmlns:a16="http://schemas.microsoft.com/office/drawing/2014/main" id="{4DD4B793-D21E-B54A-D04F-4AD35FA93426}"/>
              </a:ext>
            </a:extLst>
          </p:cNvPr>
          <p:cNvPicPr>
            <a:picLocks noChangeAspect="1"/>
          </p:cNvPicPr>
          <p:nvPr/>
        </p:nvPicPr>
        <p:blipFill>
          <a:blip r:embed="rId6"/>
          <a:stretch>
            <a:fillRect/>
          </a:stretch>
        </p:blipFill>
        <p:spPr>
          <a:xfrm>
            <a:off x="3885561" y="807515"/>
            <a:ext cx="2210439" cy="2663287"/>
          </a:xfrm>
          <a:prstGeom prst="rect">
            <a:avLst/>
          </a:prstGeom>
        </p:spPr>
      </p:pic>
    </p:spTree>
    <p:extLst>
      <p:ext uri="{BB962C8B-B14F-4D97-AF65-F5344CB8AC3E}">
        <p14:creationId xmlns:p14="http://schemas.microsoft.com/office/powerpoint/2010/main" val="15622003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34B1B-660F-B72C-640C-C93AC0EACFD7}"/>
              </a:ext>
            </a:extLst>
          </p:cNvPr>
          <p:cNvSpPr>
            <a:spLocks noGrp="1"/>
          </p:cNvSpPr>
          <p:nvPr>
            <p:ph type="title"/>
          </p:nvPr>
        </p:nvSpPr>
        <p:spPr>
          <a:xfrm>
            <a:off x="93618" y="113213"/>
            <a:ext cx="10131425" cy="457200"/>
          </a:xfrm>
        </p:spPr>
        <p:txBody>
          <a:bodyPr>
            <a:normAutofit fontScale="90000"/>
          </a:bodyPr>
          <a:lstStyle/>
          <a:p>
            <a:r>
              <a:rPr lang="en-IN" b="1" u="sng" dirty="0"/>
              <a:t>OUTPUT SNIPPETS (FRONTEND/UI)</a:t>
            </a:r>
            <a:endParaRPr lang="en-IN" dirty="0"/>
          </a:p>
        </p:txBody>
      </p:sp>
      <p:pic>
        <p:nvPicPr>
          <p:cNvPr id="5" name="Picture 4">
            <a:extLst>
              <a:ext uri="{FF2B5EF4-FFF2-40B4-BE49-F238E27FC236}">
                <a16:creationId xmlns:a16="http://schemas.microsoft.com/office/drawing/2014/main" id="{C440A728-AA48-B0D8-D054-601B7EF3B161}"/>
              </a:ext>
            </a:extLst>
          </p:cNvPr>
          <p:cNvPicPr>
            <a:picLocks noChangeAspect="1"/>
          </p:cNvPicPr>
          <p:nvPr/>
        </p:nvPicPr>
        <p:blipFill>
          <a:blip r:embed="rId2"/>
          <a:stretch>
            <a:fillRect/>
          </a:stretch>
        </p:blipFill>
        <p:spPr>
          <a:xfrm>
            <a:off x="6894784" y="109724"/>
            <a:ext cx="2806566" cy="6635063"/>
          </a:xfrm>
          <a:prstGeom prst="rect">
            <a:avLst/>
          </a:prstGeom>
        </p:spPr>
      </p:pic>
      <p:pic>
        <p:nvPicPr>
          <p:cNvPr id="7" name="Picture 6">
            <a:extLst>
              <a:ext uri="{FF2B5EF4-FFF2-40B4-BE49-F238E27FC236}">
                <a16:creationId xmlns:a16="http://schemas.microsoft.com/office/drawing/2014/main" id="{CEB7D0FE-E582-44FB-0F0A-AFF04A1B40CF}"/>
              </a:ext>
            </a:extLst>
          </p:cNvPr>
          <p:cNvPicPr>
            <a:picLocks noChangeAspect="1"/>
          </p:cNvPicPr>
          <p:nvPr/>
        </p:nvPicPr>
        <p:blipFill>
          <a:blip r:embed="rId3"/>
          <a:stretch>
            <a:fillRect/>
          </a:stretch>
        </p:blipFill>
        <p:spPr>
          <a:xfrm>
            <a:off x="2155410" y="719299"/>
            <a:ext cx="2619124" cy="2310443"/>
          </a:xfrm>
          <a:prstGeom prst="rect">
            <a:avLst/>
          </a:prstGeom>
        </p:spPr>
      </p:pic>
      <p:pic>
        <p:nvPicPr>
          <p:cNvPr id="9" name="Picture 8">
            <a:extLst>
              <a:ext uri="{FF2B5EF4-FFF2-40B4-BE49-F238E27FC236}">
                <a16:creationId xmlns:a16="http://schemas.microsoft.com/office/drawing/2014/main" id="{9027D309-1D78-1EF5-150D-5500DBFCFCC1}"/>
              </a:ext>
            </a:extLst>
          </p:cNvPr>
          <p:cNvPicPr>
            <a:picLocks noChangeAspect="1"/>
          </p:cNvPicPr>
          <p:nvPr/>
        </p:nvPicPr>
        <p:blipFill>
          <a:blip r:embed="rId4"/>
          <a:stretch>
            <a:fillRect/>
          </a:stretch>
        </p:blipFill>
        <p:spPr>
          <a:xfrm>
            <a:off x="93618" y="3178628"/>
            <a:ext cx="6742708" cy="2926081"/>
          </a:xfrm>
          <a:prstGeom prst="rect">
            <a:avLst/>
          </a:prstGeom>
        </p:spPr>
      </p:pic>
    </p:spTree>
    <p:extLst>
      <p:ext uri="{BB962C8B-B14F-4D97-AF65-F5344CB8AC3E}">
        <p14:creationId xmlns:p14="http://schemas.microsoft.com/office/powerpoint/2010/main" val="19617668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090AD-6A1F-B34F-EE76-F8C9A027D2D0}"/>
              </a:ext>
            </a:extLst>
          </p:cNvPr>
          <p:cNvSpPr>
            <a:spLocks noGrp="1"/>
          </p:cNvSpPr>
          <p:nvPr>
            <p:ph type="title"/>
          </p:nvPr>
        </p:nvSpPr>
        <p:spPr>
          <a:xfrm>
            <a:off x="668384" y="165463"/>
            <a:ext cx="10131425" cy="383177"/>
          </a:xfrm>
        </p:spPr>
        <p:txBody>
          <a:bodyPr>
            <a:normAutofit fontScale="90000"/>
          </a:bodyPr>
          <a:lstStyle/>
          <a:p>
            <a:r>
              <a:rPr lang="en-IN" b="1" u="sng" dirty="0"/>
              <a:t>OUTPUT SNIPPETS (BACKEND)</a:t>
            </a:r>
          </a:p>
        </p:txBody>
      </p:sp>
      <p:pic>
        <p:nvPicPr>
          <p:cNvPr id="5" name="Picture 4">
            <a:extLst>
              <a:ext uri="{FF2B5EF4-FFF2-40B4-BE49-F238E27FC236}">
                <a16:creationId xmlns:a16="http://schemas.microsoft.com/office/drawing/2014/main" id="{5239013E-7326-5131-0433-4077F965AA02}"/>
              </a:ext>
            </a:extLst>
          </p:cNvPr>
          <p:cNvPicPr>
            <a:picLocks noChangeAspect="1"/>
          </p:cNvPicPr>
          <p:nvPr/>
        </p:nvPicPr>
        <p:blipFill>
          <a:blip r:embed="rId2"/>
          <a:stretch>
            <a:fillRect/>
          </a:stretch>
        </p:blipFill>
        <p:spPr>
          <a:xfrm>
            <a:off x="122396" y="734567"/>
            <a:ext cx="2629035" cy="1435174"/>
          </a:xfrm>
          <a:prstGeom prst="rect">
            <a:avLst/>
          </a:prstGeom>
        </p:spPr>
      </p:pic>
      <p:pic>
        <p:nvPicPr>
          <p:cNvPr id="7" name="Picture 6">
            <a:extLst>
              <a:ext uri="{FF2B5EF4-FFF2-40B4-BE49-F238E27FC236}">
                <a16:creationId xmlns:a16="http://schemas.microsoft.com/office/drawing/2014/main" id="{1020A850-1077-7AAC-A480-83E5EE819574}"/>
              </a:ext>
            </a:extLst>
          </p:cNvPr>
          <p:cNvPicPr>
            <a:picLocks noChangeAspect="1"/>
          </p:cNvPicPr>
          <p:nvPr/>
        </p:nvPicPr>
        <p:blipFill>
          <a:blip r:embed="rId3"/>
          <a:stretch>
            <a:fillRect/>
          </a:stretch>
        </p:blipFill>
        <p:spPr>
          <a:xfrm>
            <a:off x="2978500" y="734567"/>
            <a:ext cx="3718392" cy="1437313"/>
          </a:xfrm>
          <a:prstGeom prst="rect">
            <a:avLst/>
          </a:prstGeom>
        </p:spPr>
      </p:pic>
      <p:pic>
        <p:nvPicPr>
          <p:cNvPr id="9" name="Picture 8">
            <a:extLst>
              <a:ext uri="{FF2B5EF4-FFF2-40B4-BE49-F238E27FC236}">
                <a16:creationId xmlns:a16="http://schemas.microsoft.com/office/drawing/2014/main" id="{BCAEF27C-C08E-599B-D474-61789E392699}"/>
              </a:ext>
            </a:extLst>
          </p:cNvPr>
          <p:cNvPicPr>
            <a:picLocks noChangeAspect="1"/>
          </p:cNvPicPr>
          <p:nvPr/>
        </p:nvPicPr>
        <p:blipFill>
          <a:blip r:embed="rId4"/>
          <a:stretch>
            <a:fillRect/>
          </a:stretch>
        </p:blipFill>
        <p:spPr>
          <a:xfrm>
            <a:off x="6792214" y="104502"/>
            <a:ext cx="4007595" cy="4742755"/>
          </a:xfrm>
          <a:prstGeom prst="rect">
            <a:avLst/>
          </a:prstGeom>
        </p:spPr>
      </p:pic>
      <p:pic>
        <p:nvPicPr>
          <p:cNvPr id="11" name="Picture 10">
            <a:extLst>
              <a:ext uri="{FF2B5EF4-FFF2-40B4-BE49-F238E27FC236}">
                <a16:creationId xmlns:a16="http://schemas.microsoft.com/office/drawing/2014/main" id="{5BF2BB8E-58DE-9303-CBC5-9AC5070DD7A6}"/>
              </a:ext>
            </a:extLst>
          </p:cNvPr>
          <p:cNvPicPr>
            <a:picLocks noChangeAspect="1"/>
          </p:cNvPicPr>
          <p:nvPr/>
        </p:nvPicPr>
        <p:blipFill>
          <a:blip r:embed="rId5"/>
          <a:stretch>
            <a:fillRect/>
          </a:stretch>
        </p:blipFill>
        <p:spPr>
          <a:xfrm>
            <a:off x="122397" y="2247840"/>
            <a:ext cx="3083918" cy="2193532"/>
          </a:xfrm>
          <a:prstGeom prst="rect">
            <a:avLst/>
          </a:prstGeom>
        </p:spPr>
      </p:pic>
      <p:pic>
        <p:nvPicPr>
          <p:cNvPr id="13" name="Picture 12">
            <a:extLst>
              <a:ext uri="{FF2B5EF4-FFF2-40B4-BE49-F238E27FC236}">
                <a16:creationId xmlns:a16="http://schemas.microsoft.com/office/drawing/2014/main" id="{92B69FB2-59B3-E9DF-6486-B0B9597C5D1A}"/>
              </a:ext>
            </a:extLst>
          </p:cNvPr>
          <p:cNvPicPr>
            <a:picLocks noChangeAspect="1"/>
          </p:cNvPicPr>
          <p:nvPr/>
        </p:nvPicPr>
        <p:blipFill>
          <a:blip r:embed="rId6"/>
          <a:srcRect r="21164"/>
          <a:stretch>
            <a:fillRect/>
          </a:stretch>
        </p:blipFill>
        <p:spPr>
          <a:xfrm>
            <a:off x="3301637" y="2259555"/>
            <a:ext cx="2549967" cy="4363633"/>
          </a:xfrm>
          <a:prstGeom prst="rect">
            <a:avLst/>
          </a:prstGeom>
        </p:spPr>
      </p:pic>
      <p:pic>
        <p:nvPicPr>
          <p:cNvPr id="15" name="Picture 14">
            <a:extLst>
              <a:ext uri="{FF2B5EF4-FFF2-40B4-BE49-F238E27FC236}">
                <a16:creationId xmlns:a16="http://schemas.microsoft.com/office/drawing/2014/main" id="{B4B469AF-2BA4-7210-87B2-6AB27FE3B227}"/>
              </a:ext>
            </a:extLst>
          </p:cNvPr>
          <p:cNvPicPr>
            <a:picLocks noChangeAspect="1"/>
          </p:cNvPicPr>
          <p:nvPr/>
        </p:nvPicPr>
        <p:blipFill>
          <a:blip r:embed="rId7"/>
          <a:stretch>
            <a:fillRect/>
          </a:stretch>
        </p:blipFill>
        <p:spPr>
          <a:xfrm>
            <a:off x="122396" y="4517332"/>
            <a:ext cx="2385967" cy="2222545"/>
          </a:xfrm>
          <a:prstGeom prst="rect">
            <a:avLst/>
          </a:prstGeom>
        </p:spPr>
      </p:pic>
      <p:pic>
        <p:nvPicPr>
          <p:cNvPr id="17" name="Picture 16">
            <a:extLst>
              <a:ext uri="{FF2B5EF4-FFF2-40B4-BE49-F238E27FC236}">
                <a16:creationId xmlns:a16="http://schemas.microsoft.com/office/drawing/2014/main" id="{3DF7E176-C0D0-983C-FD00-6A2421DB4748}"/>
              </a:ext>
            </a:extLst>
          </p:cNvPr>
          <p:cNvPicPr>
            <a:picLocks noChangeAspect="1"/>
          </p:cNvPicPr>
          <p:nvPr/>
        </p:nvPicPr>
        <p:blipFill>
          <a:blip r:embed="rId8"/>
          <a:stretch>
            <a:fillRect/>
          </a:stretch>
        </p:blipFill>
        <p:spPr>
          <a:xfrm>
            <a:off x="6644878" y="5020669"/>
            <a:ext cx="4720944" cy="1671868"/>
          </a:xfrm>
          <a:prstGeom prst="rect">
            <a:avLst/>
          </a:prstGeom>
        </p:spPr>
      </p:pic>
    </p:spTree>
    <p:extLst>
      <p:ext uri="{BB962C8B-B14F-4D97-AF65-F5344CB8AC3E}">
        <p14:creationId xmlns:p14="http://schemas.microsoft.com/office/powerpoint/2010/main" val="17843794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A6CAF-6BD5-DBA2-6510-AF4DEA1B1608}"/>
              </a:ext>
            </a:extLst>
          </p:cNvPr>
          <p:cNvSpPr>
            <a:spLocks noGrp="1"/>
          </p:cNvSpPr>
          <p:nvPr>
            <p:ph type="title"/>
          </p:nvPr>
        </p:nvSpPr>
        <p:spPr>
          <a:xfrm>
            <a:off x="685801" y="931818"/>
            <a:ext cx="10131425" cy="457200"/>
          </a:xfrm>
        </p:spPr>
        <p:txBody>
          <a:bodyPr>
            <a:normAutofit fontScale="90000"/>
          </a:bodyPr>
          <a:lstStyle/>
          <a:p>
            <a:r>
              <a:rPr lang="en-IN" b="1" u="sng" dirty="0"/>
              <a:t>Results Summary</a:t>
            </a:r>
          </a:p>
        </p:txBody>
      </p:sp>
      <p:sp>
        <p:nvSpPr>
          <p:cNvPr id="4" name="Rectangle 1">
            <a:extLst>
              <a:ext uri="{FF2B5EF4-FFF2-40B4-BE49-F238E27FC236}">
                <a16:creationId xmlns:a16="http://schemas.microsoft.com/office/drawing/2014/main" id="{69504F90-0328-611F-1F39-C8FDB89BF144}"/>
              </a:ext>
            </a:extLst>
          </p:cNvPr>
          <p:cNvSpPr>
            <a:spLocks noGrp="1" noChangeArrowheads="1"/>
          </p:cNvSpPr>
          <p:nvPr>
            <p:ph idx="1"/>
          </p:nvPr>
        </p:nvSpPr>
        <p:spPr bwMode="auto">
          <a:xfrm>
            <a:off x="685801" y="1612146"/>
            <a:ext cx="10556351"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Analyzed 5 major Indian stocks: TCS, Reliance, HDFC Bank, Infosys, ITC.</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Mixed signals: Some bullish, some bearish, some neutral.</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Trends captured accurately: Uptrend, downtrend, sideways movements.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Ensemble forecasting: ARIMA (baseline) + XG Boost (short-term) + LSTM (long-term).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BUY / HOLD / SELL recommendations generated by Decision Agent.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Confidence % and risk flags provided for each stock.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Charts: Candlestick + 12-month forecast + indicators.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Key takeaway: Produces realistic, non-uniform outcomes reflecting actual market behavior.</a:t>
            </a:r>
          </a:p>
        </p:txBody>
      </p:sp>
    </p:spTree>
    <p:extLst>
      <p:ext uri="{BB962C8B-B14F-4D97-AF65-F5344CB8AC3E}">
        <p14:creationId xmlns:p14="http://schemas.microsoft.com/office/powerpoint/2010/main" val="2967671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AC8BF-2BFD-773B-510F-9E6F80ACAAFE}"/>
              </a:ext>
            </a:extLst>
          </p:cNvPr>
          <p:cNvSpPr>
            <a:spLocks noGrp="1"/>
          </p:cNvSpPr>
          <p:nvPr>
            <p:ph type="title"/>
          </p:nvPr>
        </p:nvSpPr>
        <p:spPr>
          <a:xfrm>
            <a:off x="685801" y="252548"/>
            <a:ext cx="10131425" cy="539931"/>
          </a:xfrm>
        </p:spPr>
        <p:txBody>
          <a:bodyPr>
            <a:normAutofit fontScale="90000"/>
          </a:bodyPr>
          <a:lstStyle/>
          <a:p>
            <a:r>
              <a:rPr lang="en-IN" b="1" u="sng" dirty="0"/>
              <a:t>Limitations &amp; Advantages</a:t>
            </a:r>
          </a:p>
        </p:txBody>
      </p:sp>
      <p:sp>
        <p:nvSpPr>
          <p:cNvPr id="3" name="Content Placeholder 2">
            <a:extLst>
              <a:ext uri="{FF2B5EF4-FFF2-40B4-BE49-F238E27FC236}">
                <a16:creationId xmlns:a16="http://schemas.microsoft.com/office/drawing/2014/main" id="{B29BDBE1-B497-7BBB-A778-D8CEC90F431A}"/>
              </a:ext>
            </a:extLst>
          </p:cNvPr>
          <p:cNvSpPr>
            <a:spLocks noGrp="1"/>
          </p:cNvSpPr>
          <p:nvPr>
            <p:ph idx="1"/>
          </p:nvPr>
        </p:nvSpPr>
        <p:spPr>
          <a:xfrm>
            <a:off x="685801" y="905691"/>
            <a:ext cx="10131425" cy="5699761"/>
          </a:xfrm>
        </p:spPr>
        <p:txBody>
          <a:bodyPr>
            <a:normAutofit/>
          </a:bodyPr>
          <a:lstStyle/>
          <a:p>
            <a:pPr marL="0" indent="0">
              <a:buNone/>
            </a:pPr>
            <a:r>
              <a:rPr lang="en-US" sz="2000" b="1" u="sng" dirty="0"/>
              <a:t>Limitations</a:t>
            </a:r>
          </a:p>
          <a:p>
            <a:r>
              <a:rPr lang="en-US" dirty="0"/>
              <a:t>Stock markets are </a:t>
            </a:r>
            <a:r>
              <a:rPr lang="en-US" b="1" dirty="0"/>
              <a:t>stochastic and unpredictable.</a:t>
            </a:r>
            <a:endParaRPr lang="en-US" dirty="0"/>
          </a:p>
          <a:p>
            <a:r>
              <a:rPr lang="en-US" b="1" dirty="0"/>
              <a:t>Black swan events</a:t>
            </a:r>
            <a:r>
              <a:rPr lang="en-US" dirty="0"/>
              <a:t> cannot be forecasted.</a:t>
            </a:r>
          </a:p>
          <a:p>
            <a:r>
              <a:rPr lang="en-US" dirty="0"/>
              <a:t>Model accuracy </a:t>
            </a:r>
            <a:r>
              <a:rPr lang="en-US" b="1" dirty="0"/>
              <a:t>varies by market regime</a:t>
            </a:r>
            <a:r>
              <a:rPr lang="en-US" dirty="0"/>
              <a:t> (bull, bear, sideways).</a:t>
            </a:r>
          </a:p>
          <a:p>
            <a:r>
              <a:rPr lang="en-US" b="1" dirty="0"/>
              <a:t>Limited stock universe</a:t>
            </a:r>
            <a:r>
              <a:rPr lang="en-US" dirty="0"/>
              <a:t>: Only top 5 stocks in current MVP.</a:t>
            </a:r>
          </a:p>
          <a:p>
            <a:r>
              <a:rPr lang="en-US" dirty="0"/>
              <a:t>System is a </a:t>
            </a:r>
            <a:r>
              <a:rPr lang="en-US" b="1" dirty="0"/>
              <a:t>decision-support tool</a:t>
            </a:r>
            <a:r>
              <a:rPr lang="en-US" dirty="0"/>
              <a:t>, not a trading guarantee.</a:t>
            </a:r>
          </a:p>
          <a:p>
            <a:pPr marL="0" indent="0">
              <a:buNone/>
            </a:pPr>
            <a:r>
              <a:rPr lang="en-US" sz="2000" b="1" u="sng" dirty="0"/>
              <a:t>Advantages</a:t>
            </a:r>
          </a:p>
          <a:p>
            <a:r>
              <a:rPr lang="en-US" b="1" dirty="0"/>
              <a:t>No future data leakage</a:t>
            </a:r>
            <a:r>
              <a:rPr lang="en-US" dirty="0"/>
              <a:t>: Snapshot fixed at 31-12-2025.</a:t>
            </a:r>
          </a:p>
          <a:p>
            <a:r>
              <a:rPr lang="en-US" b="1" dirty="0"/>
              <a:t>Multiple independent models</a:t>
            </a:r>
            <a:r>
              <a:rPr lang="en-US" dirty="0"/>
              <a:t>: ARIMA, XG Boost, LSTM.</a:t>
            </a:r>
          </a:p>
          <a:p>
            <a:r>
              <a:rPr lang="en-US" b="1" dirty="0"/>
              <a:t>Explainable outputs</a:t>
            </a:r>
            <a:r>
              <a:rPr lang="en-US" dirty="0"/>
              <a:t>: Decision Agent + LLM layer.</a:t>
            </a:r>
          </a:p>
          <a:p>
            <a:r>
              <a:rPr lang="en-US" b="1" dirty="0"/>
              <a:t>Realistic accuracy expectations</a:t>
            </a:r>
            <a:r>
              <a:rPr lang="en-US" dirty="0"/>
              <a:t>: Confidence % indicates uncertainty.</a:t>
            </a:r>
          </a:p>
          <a:p>
            <a:r>
              <a:rPr lang="en-US" b="1" dirty="0"/>
              <a:t>Scalable architecture</a:t>
            </a:r>
            <a:r>
              <a:rPr lang="en-US" dirty="0"/>
              <a:t>: Modular backend + Vite/React frontend for easy expansion.</a:t>
            </a:r>
          </a:p>
          <a:p>
            <a:endParaRPr lang="en-IN" dirty="0"/>
          </a:p>
        </p:txBody>
      </p:sp>
    </p:spTree>
    <p:extLst>
      <p:ext uri="{BB962C8B-B14F-4D97-AF65-F5344CB8AC3E}">
        <p14:creationId xmlns:p14="http://schemas.microsoft.com/office/powerpoint/2010/main" val="16209912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Celestial</Template>
  <TotalTime>100</TotalTime>
  <Words>2712</Words>
  <Application>Microsoft Office PowerPoint</Application>
  <PresentationFormat>Widescreen</PresentationFormat>
  <Paragraphs>311</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Aparajita</vt:lpstr>
      <vt:lpstr>Arial</vt:lpstr>
      <vt:lpstr>Calibri</vt:lpstr>
      <vt:lpstr>Calibri Light</vt:lpstr>
      <vt:lpstr>Wingdings</vt:lpstr>
      <vt:lpstr>Celestial</vt:lpstr>
      <vt:lpstr>AGENTIC AI STOCK PREDICTION SYSTEM</vt:lpstr>
      <vt:lpstr>Problem statement </vt:lpstr>
      <vt:lpstr>Constraints &amp; Assumptions</vt:lpstr>
      <vt:lpstr>Technology Stack / PROJECT FLOW</vt:lpstr>
      <vt:lpstr>FEATURE ENGINEERING STEPS</vt:lpstr>
      <vt:lpstr>FEATURE ENGINEERING STEPS</vt:lpstr>
      <vt:lpstr>Fundamental Agent</vt:lpstr>
      <vt:lpstr>TECHNICAL AGENT</vt:lpstr>
      <vt:lpstr>FORECASTING AGENT</vt:lpstr>
      <vt:lpstr>DECISION AGENT</vt:lpstr>
      <vt:lpstr>CONFIDENCE SCORE AND RISK HANDLING</vt:lpstr>
      <vt:lpstr>Explanation Agent (LLM Layer)</vt:lpstr>
      <vt:lpstr>Core Functions of LLM Layer</vt:lpstr>
      <vt:lpstr>Core Functions of LLM Layer</vt:lpstr>
      <vt:lpstr>Core Functions of LLM Layer</vt:lpstr>
      <vt:lpstr>OUTPUT SNIPPETS (FRONTEND/UI)</vt:lpstr>
      <vt:lpstr>OUTPUT SNIPPETS (FRONTEND/UI)</vt:lpstr>
      <vt:lpstr>OUTPUT SNIPPETS (BACKEND)</vt:lpstr>
      <vt:lpstr>Results Summary</vt:lpstr>
      <vt:lpstr>Limitations &amp; Advantages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Nityasree Vangala</dc:creator>
  <cp:lastModifiedBy>Nityasree Vangala</cp:lastModifiedBy>
  <cp:revision>2</cp:revision>
  <dcterms:created xsi:type="dcterms:W3CDTF">2026-01-15T13:34:06Z</dcterms:created>
  <dcterms:modified xsi:type="dcterms:W3CDTF">2026-01-15T16:38:35Z</dcterms:modified>
</cp:coreProperties>
</file>